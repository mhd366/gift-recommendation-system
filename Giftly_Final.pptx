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B79AF0"/>
            </a:solidFill>
            <a:ln w="9525" cap="flat">
              <a:solidFill>
                <a:srgbClr val="B79AF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Gaming &amp; Tech</c:v>
                  </c:pt>
                  <c:pt idx="1">
                    <c:v>Fashion</c:v>
                  </c:pt>
                  <c:pt idx="2">
                    <c:v>Jewellery</c:v>
                  </c:pt>
                  <c:pt idx="3">
                    <c:v>Beauty</c:v>
                  </c:pt>
                  <c:pt idx="4">
                    <c:v>Toys</c:v>
                  </c:pt>
                  <c:pt idx="5">
                    <c:v>Home</c:v>
                  </c:pt>
                  <c:pt idx="6">
                    <c:v>Sports</c:v>
                  </c:pt>
                  <c:pt idx="7">
                    <c:v>Arts&amp;Crafts</c:v>
                  </c:pt>
                  <c:pt idx="8">
                    <c:v>Books</c:v>
                  </c:pt>
                  <c:pt idx="9">
                    <c:v>General</c:v>
                  </c:pt>
                  <c:pt idx="10">
                    <c:v>Food</c:v>
                  </c:pt>
                  <c:pt idx="11">
                    <c:v>Office</c:v>
                  </c:pt>
                  <c:pt idx="12">
                    <c:v>Flowers</c:v>
                  </c:pt>
                  <c:pt idx="13">
                    <c:v>Baby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8727</c:v>
                </c:pt>
                <c:pt idx="1">
                  <c:v>7694</c:v>
                </c:pt>
                <c:pt idx="2">
                  <c:v>6416</c:v>
                </c:pt>
                <c:pt idx="3">
                  <c:v>5045</c:v>
                </c:pt>
                <c:pt idx="4">
                  <c:v>4658</c:v>
                </c:pt>
                <c:pt idx="5">
                  <c:v>2686</c:v>
                </c:pt>
                <c:pt idx="6">
                  <c:v>2516</c:v>
                </c:pt>
                <c:pt idx="7">
                  <c:v>2134</c:v>
                </c:pt>
                <c:pt idx="8">
                  <c:v>1526</c:v>
                </c:pt>
                <c:pt idx="9">
                  <c:v>1504</c:v>
                </c:pt>
                <c:pt idx="10">
                  <c:v>1316</c:v>
                </c:pt>
                <c:pt idx="11">
                  <c:v>347</c:v>
                </c:pt>
                <c:pt idx="12">
                  <c:v>280</c:v>
                </c:pt>
                <c:pt idx="13">
                  <c:v>206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3A2E4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A79A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3A2E4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3A2E4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A79A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solidFill>
              <a:srgbClr val="E8609E"/>
            </a:solidFill>
            <a:ln w="28575" cap="flat">
              <a:solidFill>
                <a:srgbClr val="E860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8609E"/>
              </a:solidFill>
              <a:ln w="9525" cap="flat">
                <a:solidFill>
                  <a:srgbClr val="E860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  <c:pt idx="9">
                    <c:v>11</c:v>
                  </c:pt>
                  <c:pt idx="10">
                    <c:v>12</c:v>
                  </c:pt>
                  <c:pt idx="11">
                    <c:v>13</c:v>
                  </c:pt>
                  <c:pt idx="12">
                    <c:v>14</c:v>
                  </c:pt>
                  <c:pt idx="13">
                    <c:v>15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0.196</c:v>
                </c:pt>
                <c:pt idx="1">
                  <c:v>0.277</c:v>
                </c:pt>
                <c:pt idx="2">
                  <c:v>0.389</c:v>
                </c:pt>
                <c:pt idx="3">
                  <c:v>0.475</c:v>
                </c:pt>
                <c:pt idx="4">
                  <c:v>0.519</c:v>
                </c:pt>
                <c:pt idx="5">
                  <c:v>0.544</c:v>
                </c:pt>
                <c:pt idx="6">
                  <c:v>0.56</c:v>
                </c:pt>
                <c:pt idx="7">
                  <c:v>0.577</c:v>
                </c:pt>
                <c:pt idx="8">
                  <c:v>0.586</c:v>
                </c:pt>
                <c:pt idx="9">
                  <c:v>0.582</c:v>
                </c:pt>
                <c:pt idx="10">
                  <c:v>0.594</c:v>
                </c:pt>
                <c:pt idx="11">
                  <c:v>0.58</c:v>
                </c:pt>
                <c:pt idx="12">
                  <c:v>0.594</c:v>
                </c:pt>
                <c:pt idx="13">
                  <c:v>0.592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2E4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A79A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"/>
        </c:scaling>
        <c:delete val="0"/>
        <c:axPos val="l"/>
        <c:majorGridlines>
          <c:spPr>
            <a:ln w="9525" cap="flat">
              <a:solidFill>
                <a:srgbClr val="3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A2E4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A79A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6.png"/><Relationship Id="rId8" Type="http://schemas.openxmlformats.org/officeDocument/2006/relationships/image" Target="../media/image-12-6.png"/><Relationship Id="rId9" Type="http://schemas.openxmlformats.org/officeDocument/2006/relationships/image" Target="../media/image-12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4.png"/><Relationship Id="rId5" Type="http://schemas.openxmlformats.org/officeDocument/2006/relationships/image" Target="../media/image-13-2.png"/><Relationship Id="rId6" Type="http://schemas.openxmlformats.org/officeDocument/2006/relationships/image" Target="../media/image-13-2.png"/><Relationship Id="rId7" Type="http://schemas.openxmlformats.org/officeDocument/2006/relationships/image" Target="../media/image-13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2A1B3D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3840480"/>
            <a:ext cx="5120640" cy="5120640"/>
          </a:xfrm>
          <a:prstGeom prst="ellipse">
            <a:avLst/>
          </a:prstGeom>
          <a:solidFill>
            <a:srgbClr val="2A1B3D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13248" y="1051560"/>
            <a:ext cx="1371600" cy="1371600"/>
          </a:xfrm>
          <a:prstGeom prst="roundRect">
            <a:avLst>
              <a:gd name="adj" fmla="val 20000"/>
            </a:avLst>
          </a:prstGeom>
          <a:solidFill>
            <a:srgbClr val="231A2E"/>
          </a:solidFill>
          <a:ln w="15875">
            <a:solidFill>
              <a:srgbClr val="E8609E"/>
            </a:solidFill>
            <a:prstDash val="solid"/>
          </a:ln>
        </p:spPr>
      </p:sp>
      <p:pic>
        <p:nvPicPr>
          <p:cNvPr id="5" name="Image 0" descr="icons/title_g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856" y="1344168"/>
            <a:ext cx="786384" cy="7863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9748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Giftly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1371600" y="37033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79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Unsupervised Gift Recommendation System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42916" y="434340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F1628"/>
          </a:solidFill>
          <a:ln/>
        </p:spPr>
      </p:sp>
      <p:sp>
        <p:nvSpPr>
          <p:cNvPr id="9" name="Text 6"/>
          <p:cNvSpPr/>
          <p:nvPr/>
        </p:nvSpPr>
        <p:spPr>
          <a:xfrm>
            <a:off x="5042916" y="434340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E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GIFTLY COLLECTION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0" y="50749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Riyadh   •   Mohammad   •   Rana   •   Sumayah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|  Unsupervised Learning &amp; Recommendation Systems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754880"/>
            <a:ext cx="4572000" cy="4572000"/>
          </a:xfrm>
          <a:prstGeom prst="ellipse">
            <a:avLst/>
          </a:prstGeom>
          <a:solidFill>
            <a:srgbClr val="2A1B3D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E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Gift-Selection Dilemma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finding the right gift online is harder than it should be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429000" cy="2468880"/>
          </a:xfrm>
          <a:prstGeom prst="roundRect">
            <a:avLst>
              <a:gd name="adj" fmla="val 4444"/>
            </a:avLst>
          </a:prstGeom>
          <a:solidFill>
            <a:srgbClr val="231A2E"/>
          </a:solidFill>
          <a:ln/>
        </p:spPr>
      </p:sp>
      <p:sp>
        <p:nvSpPr>
          <p:cNvPr id="7" name="Shape 5"/>
          <p:cNvSpPr/>
          <p:nvPr/>
        </p:nvSpPr>
        <p:spPr>
          <a:xfrm>
            <a:off x="1897380" y="2258568"/>
            <a:ext cx="731520" cy="731520"/>
          </a:xfrm>
          <a:prstGeom prst="ellipse">
            <a:avLst/>
          </a:prstGeom>
          <a:solidFill>
            <a:srgbClr val="1B1424"/>
          </a:solidFill>
          <a:ln w="15875">
            <a:solidFill>
              <a:srgbClr val="E8609E"/>
            </a:solidFill>
            <a:prstDash val="solid"/>
          </a:ln>
        </p:spPr>
      </p:sp>
      <p:pic>
        <p:nvPicPr>
          <p:cNvPr id="8" name="Image 0" descr="icons/pain_ch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3684" y="240487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1729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 Overload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353872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catalog spans 45,055 products across 14 categories and 1,517 brands — far too many to browse manually.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1965960"/>
            <a:ext cx="3429000" cy="2468880"/>
          </a:xfrm>
          <a:prstGeom prst="roundRect">
            <a:avLst>
              <a:gd name="adj" fmla="val 4444"/>
            </a:avLst>
          </a:prstGeom>
          <a:solidFill>
            <a:srgbClr val="231A2E"/>
          </a:solidFill>
          <a:ln/>
        </p:spPr>
      </p:sp>
      <p:sp>
        <p:nvSpPr>
          <p:cNvPr id="12" name="Shape 9"/>
          <p:cNvSpPr/>
          <p:nvPr/>
        </p:nvSpPr>
        <p:spPr>
          <a:xfrm>
            <a:off x="5646420" y="2258568"/>
            <a:ext cx="731520" cy="731520"/>
          </a:xfrm>
          <a:prstGeom prst="ellipse">
            <a:avLst/>
          </a:prstGeom>
          <a:solidFill>
            <a:srgbClr val="1B1424"/>
          </a:solidFill>
          <a:ln w="15875">
            <a:solidFill>
              <a:srgbClr val="E8609E"/>
            </a:solidFill>
            <a:prstDash val="solid"/>
          </a:ln>
        </p:spPr>
      </p:sp>
      <p:pic>
        <p:nvPicPr>
          <p:cNvPr id="13" name="Image 1" descr="icons/pai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724" y="2404872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31729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Search Engines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72000" y="353872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matches text, not intent — it can't reason about a recipient's age, budget, or occasion together.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46720" y="1965960"/>
            <a:ext cx="3429000" cy="2468880"/>
          </a:xfrm>
          <a:prstGeom prst="roundRect">
            <a:avLst>
              <a:gd name="adj" fmla="val 4444"/>
            </a:avLst>
          </a:prstGeom>
          <a:solidFill>
            <a:srgbClr val="231A2E"/>
          </a:solidFill>
          <a:ln/>
        </p:spPr>
      </p:sp>
      <p:sp>
        <p:nvSpPr>
          <p:cNvPr id="17" name="Shape 13"/>
          <p:cNvSpPr/>
          <p:nvPr/>
        </p:nvSpPr>
        <p:spPr>
          <a:xfrm>
            <a:off x="9395460" y="2258568"/>
            <a:ext cx="731520" cy="731520"/>
          </a:xfrm>
          <a:prstGeom prst="ellipse">
            <a:avLst/>
          </a:prstGeom>
          <a:solidFill>
            <a:srgbClr val="1B1424"/>
          </a:solidFill>
          <a:ln w="15875">
            <a:solidFill>
              <a:srgbClr val="E8609E"/>
            </a:solidFill>
            <a:prstDash val="solid"/>
          </a:ln>
        </p:spPr>
      </p:sp>
      <p:pic>
        <p:nvPicPr>
          <p:cNvPr id="18" name="Image 2" descr="icons/pain_fatig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1764" y="2404872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75320" y="31729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Fatigue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321040" y="353872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 with unranked options, shoppers stall or default to the first safe choice, rather than the best-fit one.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4709160"/>
            <a:ext cx="11064240" cy="1691640"/>
          </a:xfrm>
          <a:prstGeom prst="roundRect">
            <a:avLst>
              <a:gd name="adj" fmla="val 6486"/>
            </a:avLst>
          </a:prstGeom>
          <a:solidFill>
            <a:srgbClr val="231A2E"/>
          </a:solidFill>
          <a:ln/>
        </p:spPr>
      </p:sp>
      <p:sp>
        <p:nvSpPr>
          <p:cNvPr id="22" name="Text 17"/>
          <p:cNvSpPr/>
          <p:nvPr/>
        </p:nvSpPr>
        <p:spPr>
          <a:xfrm>
            <a:off x="868680" y="4864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Unsupervised Learning?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68680" y="5212080"/>
            <a:ext cx="7406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catalog_clean.csv describes products — it has no column recording which gift a person actually chose, rated, or bought. With no labels and no interaction log, this is a cold-start, content-based problem: we can only reason about item attributes and their geometric relationship to a user's query.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686800" y="486460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86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000" dirty="0"/>
          </a:p>
        </p:txBody>
      </p:sp>
      <p:sp>
        <p:nvSpPr>
          <p:cNvPr id="25" name="Text 20"/>
          <p:cNvSpPr/>
          <p:nvPr/>
        </p:nvSpPr>
        <p:spPr>
          <a:xfrm>
            <a:off x="8686800" y="5669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interactions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dataset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5720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9A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Giftly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1548872" y="64373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A1B3D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E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product and every user request into one shared vector space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231A2E"/>
          </a:solidFill>
          <a:ln w="12700">
            <a:solidFill>
              <a:srgbClr val="E8609E"/>
            </a:solidFill>
            <a:prstDash val="solid"/>
          </a:ln>
        </p:spPr>
      </p:sp>
      <p:pic>
        <p:nvPicPr>
          <p:cNvPr id="7" name="Image 0" descr="icons/gif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21488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852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310128"/>
            <a:ext cx="3383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Giftly is an automated recommendation engine that turns Age, Occasion, Budget, Interests, and Gender into a query vector — then ranks 45,055 products by cosine similarity to that vector, after removing anything that fails a hard age, budget, or gender rule.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188720" y="4983480"/>
            <a:ext cx="2926080" cy="0"/>
          </a:xfrm>
          <a:prstGeom prst="line">
            <a:avLst/>
          </a:prstGeom>
          <a:noFill/>
          <a:ln w="12700">
            <a:solidFill>
              <a:srgbClr val="3A2E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19379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B79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64-dimensional </a:t>
            </a:r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embedding space
</a:t>
            </a:r>
            <a:pPr algn="ctr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B79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</a:t>
            </a:r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gift archetypes
</a:t>
            </a:r>
            <a:pPr algn="ctr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B79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ms </a:t>
            </a:r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response time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166360" y="1874520"/>
            <a:ext cx="548640" cy="548640"/>
          </a:xfrm>
          <a:prstGeom prst="ellipse">
            <a:avLst/>
          </a:prstGeom>
          <a:solidFill>
            <a:srgbClr val="B79AF0"/>
          </a:solidFill>
          <a:ln/>
        </p:spPr>
      </p:sp>
      <p:sp>
        <p:nvSpPr>
          <p:cNvPr id="13" name="Text 10"/>
          <p:cNvSpPr/>
          <p:nvPr/>
        </p:nvSpPr>
        <p:spPr>
          <a:xfrm>
            <a:off x="51663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pic>
        <p:nvPicPr>
          <p:cNvPr id="14" name="Image 1" descr="icons/solution_ve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202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37960" y="18470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Vectorization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537960" y="224028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Interests, occasion, life-stage age band, price band, and gender are block-weighted and L2-normalised into one unit vector per product and per query.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40680" y="2478024"/>
            <a:ext cx="0" cy="822960"/>
          </a:xfrm>
          <a:prstGeom prst="line">
            <a:avLst/>
          </a:prstGeom>
          <a:noFill/>
          <a:ln w="19050">
            <a:solidFill>
              <a:srgbClr val="3A2E4A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5166360" y="3355848"/>
            <a:ext cx="548640" cy="548640"/>
          </a:xfrm>
          <a:prstGeom prst="ellipse">
            <a:avLst/>
          </a:prstGeom>
          <a:solidFill>
            <a:srgbClr val="B79AF0"/>
          </a:solidFill>
          <a:ln/>
        </p:spPr>
      </p:sp>
      <p:sp>
        <p:nvSpPr>
          <p:cNvPr id="19" name="Text 15"/>
          <p:cNvSpPr/>
          <p:nvPr/>
        </p:nvSpPr>
        <p:spPr>
          <a:xfrm>
            <a:off x="5166360" y="3355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pic>
        <p:nvPicPr>
          <p:cNvPr id="20" name="Image 2" descr="icons/engine_clus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40156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37960" y="33284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&amp; Filtering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537960" y="3721608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groups the catalog into 16 gift archetypes for explainability; hard filters remove any item that breaks the age, budget, or gender rule.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40680" y="3959352"/>
            <a:ext cx="0" cy="822960"/>
          </a:xfrm>
          <a:prstGeom prst="line">
            <a:avLst/>
          </a:prstGeom>
          <a:noFill/>
          <a:ln w="19050">
            <a:solidFill>
              <a:srgbClr val="3A2E4A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5166360" y="4837176"/>
            <a:ext cx="548640" cy="548640"/>
          </a:xfrm>
          <a:prstGeom prst="ellipse">
            <a:avLst/>
          </a:prstGeom>
          <a:solidFill>
            <a:srgbClr val="B79AF0"/>
          </a:solidFill>
          <a:ln/>
        </p:spPr>
      </p:sp>
      <p:sp>
        <p:nvSpPr>
          <p:cNvPr id="25" name="Text 20"/>
          <p:cNvSpPr/>
          <p:nvPr/>
        </p:nvSpPr>
        <p:spPr>
          <a:xfrm>
            <a:off x="5166360" y="48371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pic>
        <p:nvPicPr>
          <p:cNvPr id="26" name="Image 3" descr="icons/solution_mat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882896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537960" y="480974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Matching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6537960" y="5202936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ranks the remaining admissible items — score reads directly as a 0-100% match to the user's request.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5720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9A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Giftly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11548872" y="64373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2A1B3D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E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Scraping &amp; Pipeline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22 live retail sources to one clean, model-ready catalog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231A2E"/>
          </a:solidFill>
          <a:ln/>
        </p:spPr>
      </p:sp>
      <p:pic>
        <p:nvPicPr>
          <p:cNvPr id="7" name="Image 0" descr="icons/pipeline_scr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128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Scraping Strategy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6517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catalogs, titles, prices, images, and descriptions were collected across 25 e-commerce and gift retailers spanning fashion, beauty, tech, toys, flowers, and sports — each product retains a source_site tag and a product_url / image_url pair for traceability.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3794760"/>
          <a:ext cx="4754880" cy="13716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1FA"/>
                          </a:solidFill>
                        </a:rPr>
                        <a:t>Top sources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1FA"/>
                          </a:solidFill>
                        </a:rPr>
                        <a:t>Catalog share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9AC0"/>
                          </a:solidFill>
                        </a:rPr>
                        <a:t>Ounass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79AF0"/>
                          </a:solidFill>
                        </a:rPr>
                        <a:t>35.9%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9AC0"/>
                          </a:solidFill>
                        </a:rPr>
                        <a:t>Steam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79AF0"/>
                          </a:solidFill>
                        </a:rPr>
                        <a:t>13.4%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9AC0"/>
                          </a:solidFill>
                        </a:rPr>
                        <a:t>Jarir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79AF0"/>
                          </a:solidFill>
                        </a:rPr>
                        <a:t>11.4%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9AC0"/>
                          </a:solidFill>
                        </a:rPr>
                        <a:t>Baby Story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79AF0"/>
                          </a:solidFill>
                        </a:rPr>
                        <a:t>7.6%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9AC0"/>
                          </a:solidFill>
                        </a:rPr>
                        <a:t>+ 18 more stores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79AF0"/>
                          </a:solidFill>
                        </a:rPr>
                        <a:t>31.7%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868680" y="53035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stores  •  45,055 products  •  55,069 purchasable options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172200" y="192024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231A2E"/>
          </a:solidFill>
          <a:ln/>
        </p:spPr>
      </p:sp>
      <p:pic>
        <p:nvPicPr>
          <p:cNvPr id="13" name="Image 1" descr="icons/pipeline_cle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488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86600" y="22128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492240" y="2752344"/>
            <a:ext cx="118872" cy="118872"/>
          </a:xfrm>
          <a:prstGeom prst="ellipse">
            <a:avLst/>
          </a:prstGeom>
          <a:solidFill>
            <a:srgbClr val="E8609E"/>
          </a:solidFill>
          <a:ln/>
        </p:spPr>
      </p:sp>
      <p:sp>
        <p:nvSpPr>
          <p:cNvPr id="16" name="Text 11"/>
          <p:cNvSpPr/>
          <p:nvPr/>
        </p:nvSpPr>
        <p:spPr>
          <a:xfrm>
            <a:off x="6711696" y="263347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711696" y="294436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45,055 parent products resolved from 55,069 raw options — 40,397 single-option, 4,658 multi-option (size/colour variants).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492240" y="3648456"/>
            <a:ext cx="118872" cy="118872"/>
          </a:xfrm>
          <a:prstGeom prst="ellipse">
            <a:avLst/>
          </a:prstGeom>
          <a:solidFill>
            <a:srgbClr val="E8609E"/>
          </a:solidFill>
          <a:ln/>
        </p:spPr>
      </p:sp>
      <p:sp>
        <p:nvSpPr>
          <p:cNvPr id="19" name="Text 14"/>
          <p:cNvSpPr/>
          <p:nvPr/>
        </p:nvSpPr>
        <p:spPr>
          <a:xfrm>
            <a:off x="6711696" y="352958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handling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711696" y="38404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image_url has gaps (2.8%); every other field is 100% populated. No price is ever imputed — price is a hard budget filter.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492240" y="4544568"/>
            <a:ext cx="118872" cy="118872"/>
          </a:xfrm>
          <a:prstGeom prst="ellipse">
            <a:avLst/>
          </a:prstGeom>
          <a:solidFill>
            <a:srgbClr val="E8609E"/>
          </a:solidFill>
          <a:ln/>
        </p:spPr>
      </p:sp>
      <p:sp>
        <p:nvSpPr>
          <p:cNvPr id="22" name="Text 17"/>
          <p:cNvSpPr/>
          <p:nvPr/>
        </p:nvSpPr>
        <p:spPr>
          <a:xfrm>
            <a:off x="6711696" y="442569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711696" y="473659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Occasions and interests parsed into 10 + 15 multi-hot flags; age parsed into (min_age, max_age); price parsed into min/median/max + ordinal band.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492240" y="5440680"/>
            <a:ext cx="118872" cy="118872"/>
          </a:xfrm>
          <a:prstGeom prst="ellipse">
            <a:avLst/>
          </a:prstGeom>
          <a:solidFill>
            <a:srgbClr val="E8609E"/>
          </a:solidFill>
          <a:ln/>
        </p:spPr>
      </p:sp>
      <p:sp>
        <p:nvSpPr>
          <p:cNvPr id="25" name="Text 20"/>
          <p:cNvSpPr/>
          <p:nvPr/>
        </p:nvSpPr>
        <p:spPr>
          <a:xfrm>
            <a:off x="6711696" y="53218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flagging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711696" y="563270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subcategory_confidence marks 6,971 conflicting labels (15%) for demotion, not deletion — e.g. a LEGO set is a toy without the word "toy" in its name.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45720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9A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Giftly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11548872" y="64373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754880"/>
            <a:ext cx="4572000" cy="4572000"/>
          </a:xfrm>
          <a:prstGeom prst="ellipse">
            <a:avLst/>
          </a:prstGeom>
          <a:solidFill>
            <a:srgbClr val="2A1B3D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E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•  1 OF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0408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Profiling &amp; Highlights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16-section EDA — every finding maps to a concrete modelling decision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719072"/>
            <a:ext cx="2029968" cy="914400"/>
          </a:xfrm>
          <a:prstGeom prst="roundRect">
            <a:avLst>
              <a:gd name="adj" fmla="val 10000"/>
            </a:avLst>
          </a:prstGeom>
          <a:solidFill>
            <a:srgbClr val="231A2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92224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45,055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48640" y="2267712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88336" y="1719072"/>
            <a:ext cx="2029968" cy="914400"/>
          </a:xfrm>
          <a:prstGeom prst="roundRect">
            <a:avLst>
              <a:gd name="adj" fmla="val 10000"/>
            </a:avLst>
          </a:prstGeom>
          <a:solidFill>
            <a:srgbClr val="231A2E"/>
          </a:solidFill>
          <a:ln/>
        </p:spPr>
      </p:sp>
      <p:sp>
        <p:nvSpPr>
          <p:cNvPr id="10" name="Text 8"/>
          <p:cNvSpPr/>
          <p:nvPr/>
        </p:nvSpPr>
        <p:spPr>
          <a:xfrm>
            <a:off x="2688336" y="1792224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2688336" y="2267712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28032" y="1719072"/>
            <a:ext cx="2029968" cy="914400"/>
          </a:xfrm>
          <a:prstGeom prst="roundRect">
            <a:avLst>
              <a:gd name="adj" fmla="val 10000"/>
            </a:avLst>
          </a:prstGeom>
          <a:solidFill>
            <a:srgbClr val="23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792224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828032" y="2267712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67728" y="1719072"/>
            <a:ext cx="2029968" cy="914400"/>
          </a:xfrm>
          <a:prstGeom prst="roundRect">
            <a:avLst>
              <a:gd name="adj" fmla="val 10000"/>
            </a:avLst>
          </a:prstGeom>
          <a:solidFill>
            <a:srgbClr val="23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6967728" y="1792224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1,517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967728" y="2267712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07424" y="1719072"/>
            <a:ext cx="2029968" cy="914400"/>
          </a:xfrm>
          <a:prstGeom prst="roundRect">
            <a:avLst>
              <a:gd name="adj" fmla="val 10000"/>
            </a:avLst>
          </a:prstGeom>
          <a:solidFill>
            <a:srgbClr val="23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9107424" y="1792224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359 SAR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107424" y="2267712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2834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Distribution — 42.4x imbalance (largest vs. smallest)</a:t>
            </a:r>
            <a:endParaRPr lang="en-US" sz="12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11480" y="3108960"/>
          <a:ext cx="65836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7269480" y="2834640"/>
            <a:ext cx="4343400" cy="3429000"/>
          </a:xfrm>
          <a:prstGeom prst="roundRect">
            <a:avLst>
              <a:gd name="adj" fmla="val 2667"/>
            </a:avLst>
          </a:prstGeom>
          <a:solidFill>
            <a:srgbClr val="231A2E"/>
          </a:solidFill>
          <a:ln/>
        </p:spPr>
      </p:sp>
      <p:pic>
        <p:nvPicPr>
          <p:cNvPr id="24" name="Image 0" descr="icons/eda_sta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017520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001000" y="3063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Interests &amp; Occasions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7498080" y="3557016"/>
            <a:ext cx="91440" cy="91440"/>
          </a:xfrm>
          <a:prstGeom prst="ellipse">
            <a:avLst/>
          </a:prstGeom>
          <a:solidFill>
            <a:srgbClr val="B79AF0"/>
          </a:solidFill>
          <a:ln/>
        </p:spPr>
      </p:sp>
      <p:sp>
        <p:nvSpPr>
          <p:cNvPr id="27" name="Text 23"/>
          <p:cNvSpPr/>
          <p:nvPr/>
        </p:nvSpPr>
        <p:spPr>
          <a:xfrm>
            <a:off x="7699248" y="3447288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 coverage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7699248" y="367588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 99.2% · Birthday 98.4% (near-universal) → Housewarming rarest at 5.7%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7498080" y="4087368"/>
            <a:ext cx="91440" cy="91440"/>
          </a:xfrm>
          <a:prstGeom prst="ellipse">
            <a:avLst/>
          </a:prstGeom>
          <a:solidFill>
            <a:srgbClr val="B79AF0"/>
          </a:solidFill>
          <a:ln/>
        </p:spPr>
      </p:sp>
      <p:sp>
        <p:nvSpPr>
          <p:cNvPr id="30" name="Text 26"/>
          <p:cNvSpPr/>
          <p:nvPr/>
        </p:nvSpPr>
        <p:spPr>
          <a:xfrm>
            <a:off x="7699248" y="397764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coverage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699248" y="42062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&amp; Style most common (19.3%) → Gardening &amp; Nature rarest (1.2%)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7498080" y="4617720"/>
            <a:ext cx="91440" cy="91440"/>
          </a:xfrm>
          <a:prstGeom prst="ellipse">
            <a:avLst/>
          </a:prstGeom>
          <a:solidFill>
            <a:srgbClr val="B79AF0"/>
          </a:solidFill>
          <a:ln/>
        </p:spPr>
      </p:sp>
      <p:sp>
        <p:nvSpPr>
          <p:cNvPr id="33" name="Text 29"/>
          <p:cNvSpPr/>
          <p:nvPr/>
        </p:nvSpPr>
        <p:spPr>
          <a:xfrm>
            <a:off x="7699248" y="450799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Untagged products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7699248" y="47365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879 products (2.0%) carry no interest tag at all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7498080" y="5148072"/>
            <a:ext cx="91440" cy="91440"/>
          </a:xfrm>
          <a:prstGeom prst="ellipse">
            <a:avLst/>
          </a:prstGeom>
          <a:solidFill>
            <a:srgbClr val="B79AF0"/>
          </a:solidFill>
          <a:ln/>
        </p:spPr>
      </p:sp>
      <p:sp>
        <p:nvSpPr>
          <p:cNvPr id="36" name="Text 32"/>
          <p:cNvSpPr/>
          <p:nvPr/>
        </p:nvSpPr>
        <p:spPr>
          <a:xfrm>
            <a:off x="7699248" y="5038344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Occasions per product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7699248" y="526694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3.77 labels/product — 33 products carry only one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7498080" y="5678424"/>
            <a:ext cx="91440" cy="91440"/>
          </a:xfrm>
          <a:prstGeom prst="ellipse">
            <a:avLst/>
          </a:prstGeom>
          <a:solidFill>
            <a:srgbClr val="B79AF0"/>
          </a:solidFill>
          <a:ln/>
        </p:spPr>
      </p:sp>
      <p:sp>
        <p:nvSpPr>
          <p:cNvPr id="39" name="Text 35"/>
          <p:cNvSpPr/>
          <p:nvPr/>
        </p:nvSpPr>
        <p:spPr>
          <a:xfrm>
            <a:off x="7699248" y="556869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7699248" y="5797296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Unisex 24,202 · Female 15,479 · Male 5,374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45720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9A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Giftly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11548872" y="64373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2A1B3D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E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•  2 OF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for the Modelling Team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EDA section ends with a decision, not just an observation — 12 findings, prioritised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92840" cy="4572000"/>
        </p:xfrm>
        <a:graphic>
          <a:graphicData uri="http://schemas.openxmlformats.org/drawingml/2006/table">
            <a:tbl>
              <a:tblPr/>
              <a:tblGrid>
                <a:gridCol w="3429000"/>
                <a:gridCol w="6309360"/>
                <a:gridCol w="1554480"/>
              </a:tblGrid>
              <a:tr h="3516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F1FA"/>
                          </a:solidFill>
                        </a:rPr>
                        <a:t>Finding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F1FA"/>
                          </a:solidFill>
                        </a:rPr>
                        <a:t>Action for the Modelling Team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4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F1FA"/>
                          </a:solidFill>
                        </a:rPr>
                        <a:t>Priority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424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F5F1FA"/>
                          </a:solidFill>
                        </a:rPr>
                        <a:t>Two occasion labels are near-universal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A79AC0"/>
                          </a:solidFill>
                        </a:rPr>
                        <a:t>Multiply every occasion match by its inverse-frequency weight</a:t>
                      </a:r>
                      <a:endParaRPr lang="en-US" sz="9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8609E"/>
                          </a:solidFill>
                        </a:rPr>
                        <a:t>CRITICAL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F5F1FA"/>
                          </a:solidFill>
                        </a:rPr>
                        <a:t>Occasion labels are rule-derived, not observed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A79AC0"/>
                          </a:solidFill>
                        </a:rPr>
                        <a:t>Never train or evaluate a model against them — that is circular</a:t>
                      </a:r>
                      <a:endParaRPr lang="en-US" sz="9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8609E"/>
                          </a:solidFill>
                        </a:rPr>
                        <a:t>CRITICAL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F5F1FA"/>
                          </a:solidFill>
                        </a:rPr>
                        <a:t>Description is template-generated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A79AC0"/>
                          </a:solidFill>
                        </a:rPr>
                        <a:t>Exclude it from text features; embed product_name instead</a:t>
                      </a:r>
                      <a:endParaRPr lang="en-US" sz="9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8609E"/>
                          </a:solidFill>
                        </a:rPr>
                        <a:t>CRITICAL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F5F1FA"/>
                          </a:solidFill>
                        </a:rPr>
                        <a:t>source_site correlates with category &amp; price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A79AC0"/>
                          </a:solidFill>
                        </a:rPr>
                        <a:t>Exclude source_site as a model feature; keep for bias reporting only</a:t>
                      </a:r>
                      <a:endParaRPr lang="en-US" sz="9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8609E"/>
                          </a:solidFill>
                        </a:rPr>
                        <a:t>CRITICAL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F5F1FA"/>
                          </a:solidFill>
                        </a:rPr>
                        <a:t>Price is heavily right-skewed (skew 4.85)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A79AC0"/>
                          </a:solidFill>
                        </a:rPr>
                        <a:t>Use log(price) or price_band; never raw price in a distance metric</a:t>
                      </a:r>
                      <a:endParaRPr lang="en-US" sz="9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79AF0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F5F1FA"/>
                          </a:solidFill>
                        </a:rPr>
                        <a:t>Price scale differs by category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A79AC0"/>
                          </a:solidFill>
                        </a:rPr>
                        <a:t>Normalise price fit within category, not globally</a:t>
                      </a:r>
                      <a:endParaRPr lang="en-US" sz="9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79AF0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F5F1FA"/>
                          </a:solidFill>
                        </a:rPr>
                        <a:t>Category sizes are highly unequal (42.4x)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A79AC0"/>
                          </a:solidFill>
                        </a:rPr>
                        <a:t>Macro-average metrics; apply class weights; cap results per category</a:t>
                      </a:r>
                      <a:endParaRPr lang="en-US" sz="9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79AF0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F5F1FA"/>
                          </a:solidFill>
                        </a:rPr>
                        <a:t>Catalogue is bilingual (Arabic + English)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A79AC0"/>
                          </a:solidFill>
                        </a:rPr>
                        <a:t>Use a multilingual encoder; fold Arabic letter variants</a:t>
                      </a:r>
                      <a:endParaRPr lang="en-US" sz="9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79AF0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F5F1FA"/>
                          </a:solidFill>
                        </a:rPr>
                        <a:t>Age-gender &amp; category-budget grids have thin cells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A79AC0"/>
                          </a:solidFill>
                        </a:rPr>
                        <a:t>Evaluate per cell; relax category on fallback, never budget or age</a:t>
                      </a:r>
                      <a:endParaRPr lang="en-US" sz="9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79AF0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F5F1FA"/>
                          </a:solidFill>
                        </a:rPr>
                        <a:t>Products group into parent + purchase options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A79AC0"/>
                          </a:solidFill>
                        </a:rPr>
                        <a:t>Rank parent products; resolve options at the interface layer</a:t>
                      </a:r>
                      <a:endParaRPr lang="en-US" sz="9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79AF0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F5F1FA"/>
                          </a:solidFill>
                        </a:rPr>
                        <a:t>Sub-category is unverifiable for many products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A79AC0"/>
                          </a:solidFill>
                        </a:rPr>
                        <a:t>Use subcategory_confidence to demote, never delete or relabel</a:t>
                      </a:r>
                      <a:endParaRPr lang="en-US" sz="9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A79AC0"/>
                          </a:solidFill>
                        </a:rPr>
                        <a:t>MEDIUM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F5F1FA"/>
                          </a:solidFill>
                        </a:rPr>
                        <a:t>A share of products has no image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A79AC0"/>
                          </a:solidFill>
                        </a:rPr>
                        <a:t>Read image_display_url only; demote placeholder products in ranking</a:t>
                      </a:r>
                      <a:endParaRPr lang="en-US" sz="9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A79AC0"/>
                          </a:solidFill>
                        </a:rPr>
                        <a:t>MEDIUM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9A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Giftly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548872" y="64373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2A1B3D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E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 •  EXPLAINED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Toolbox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candidate technique actually does, before we decide who makes the cut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231A2E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965960"/>
            <a:ext cx="512064" cy="512064"/>
          </a:xfrm>
          <a:prstGeom prst="ellipse">
            <a:avLst/>
          </a:prstGeom>
          <a:solidFill>
            <a:srgbClr val="1B1424"/>
          </a:solidFill>
          <a:ln/>
        </p:spPr>
      </p:sp>
      <p:pic>
        <p:nvPicPr>
          <p:cNvPr id="8" name="Image 0" descr="icons/model_kme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84832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0" y="200253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1424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0" y="200253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49808" y="256032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Clustering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9808" y="2880360"/>
            <a:ext cx="32095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points into k groups by repeatedly assigning each to its nearest centroid, then recomputing centroids until they stop moving.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79976" y="1783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231A2E"/>
          </a:solidFill>
          <a:ln/>
        </p:spPr>
      </p:sp>
      <p:sp>
        <p:nvSpPr>
          <p:cNvPr id="14" name="Shape 11"/>
          <p:cNvSpPr/>
          <p:nvPr/>
        </p:nvSpPr>
        <p:spPr>
          <a:xfrm>
            <a:off x="4581144" y="1965960"/>
            <a:ext cx="512064" cy="512064"/>
          </a:xfrm>
          <a:prstGeom prst="ellipse">
            <a:avLst/>
          </a:prstGeom>
          <a:solidFill>
            <a:srgbClr val="1B1424"/>
          </a:solidFill>
          <a:ln/>
        </p:spPr>
      </p:sp>
      <p:pic>
        <p:nvPicPr>
          <p:cNvPr id="15" name="Image 1" descr="icons/model_cos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084832"/>
            <a:ext cx="274320" cy="2743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574536" y="200253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1424"/>
          </a:solidFill>
          <a:ln/>
        </p:spPr>
      </p:sp>
      <p:sp>
        <p:nvSpPr>
          <p:cNvPr id="17" name="Text 13"/>
          <p:cNvSpPr/>
          <p:nvPr/>
        </p:nvSpPr>
        <p:spPr>
          <a:xfrm>
            <a:off x="6574536" y="200253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581144" y="256032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Similarity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81144" y="2880360"/>
            <a:ext cx="32095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angle between two vectors rather than their distance — ideal for comparing sparse preference profiles regardless of magnitude.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211312" y="1783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231A2E"/>
          </a:solidFill>
          <a:ln/>
        </p:spPr>
      </p:sp>
      <p:sp>
        <p:nvSpPr>
          <p:cNvPr id="21" name="Shape 17"/>
          <p:cNvSpPr/>
          <p:nvPr/>
        </p:nvSpPr>
        <p:spPr>
          <a:xfrm>
            <a:off x="8412480" y="1965960"/>
            <a:ext cx="512064" cy="512064"/>
          </a:xfrm>
          <a:prstGeom prst="ellipse">
            <a:avLst/>
          </a:prstGeom>
          <a:solidFill>
            <a:srgbClr val="1B1424"/>
          </a:solidFill>
          <a:ln/>
        </p:spPr>
      </p:sp>
      <p:pic>
        <p:nvPicPr>
          <p:cNvPr id="22" name="Image 2" descr="icons/model_dbsc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084832"/>
            <a:ext cx="274320" cy="27432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0405872" y="200253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1424"/>
          </a:solidFill>
          <a:ln/>
        </p:spPr>
      </p:sp>
      <p:sp>
        <p:nvSpPr>
          <p:cNvPr id="24" name="Text 19"/>
          <p:cNvSpPr/>
          <p:nvPr/>
        </p:nvSpPr>
        <p:spPr>
          <a:xfrm>
            <a:off x="10405872" y="200253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6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8412480" y="256032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412480" y="2880360"/>
            <a:ext cx="32095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points that are densely packed together and labels sparse regions as noise; needs a meaningful neighbourhood radius to find structure.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48640" y="4069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231A2E"/>
          </a:solidFill>
          <a:ln/>
        </p:spPr>
      </p:sp>
      <p:sp>
        <p:nvSpPr>
          <p:cNvPr id="28" name="Shape 23"/>
          <p:cNvSpPr/>
          <p:nvPr/>
        </p:nvSpPr>
        <p:spPr>
          <a:xfrm>
            <a:off x="749808" y="4251960"/>
            <a:ext cx="512064" cy="512064"/>
          </a:xfrm>
          <a:prstGeom prst="ellipse">
            <a:avLst/>
          </a:prstGeom>
          <a:solidFill>
            <a:srgbClr val="1B1424"/>
          </a:solidFill>
          <a:ln/>
        </p:spPr>
      </p:sp>
      <p:pic>
        <p:nvPicPr>
          <p:cNvPr id="29" name="Image 3" descr="icons/model_hi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70832"/>
            <a:ext cx="274320" cy="27432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2743200" y="428853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1424"/>
          </a:solidFill>
          <a:ln/>
        </p:spPr>
      </p:sp>
      <p:sp>
        <p:nvSpPr>
          <p:cNvPr id="31" name="Text 25"/>
          <p:cNvSpPr/>
          <p:nvPr/>
        </p:nvSpPr>
        <p:spPr>
          <a:xfrm>
            <a:off x="2743200" y="428853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6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749808" y="484632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Clustering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49808" y="5166360"/>
            <a:ext cx="32095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tree of nested clusters by iteratively merging the two closest points or groups, visualised as a dendrogram.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4379976" y="4069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231A2E"/>
          </a:solidFill>
          <a:ln/>
        </p:spPr>
      </p:sp>
      <p:sp>
        <p:nvSpPr>
          <p:cNvPr id="35" name="Shape 29"/>
          <p:cNvSpPr/>
          <p:nvPr/>
        </p:nvSpPr>
        <p:spPr>
          <a:xfrm>
            <a:off x="4581144" y="4251960"/>
            <a:ext cx="512064" cy="512064"/>
          </a:xfrm>
          <a:prstGeom prst="ellipse">
            <a:avLst/>
          </a:prstGeom>
          <a:solidFill>
            <a:srgbClr val="1B1424"/>
          </a:solidFill>
          <a:ln/>
        </p:spPr>
      </p:sp>
      <p:pic>
        <p:nvPicPr>
          <p:cNvPr id="36" name="Image 4" descr="icons/model_pc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370832"/>
            <a:ext cx="274320" cy="274320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6574536" y="428853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1424"/>
          </a:solidFill>
          <a:ln/>
        </p:spPr>
      </p:sp>
      <p:sp>
        <p:nvSpPr>
          <p:cNvPr id="38" name="Text 31"/>
          <p:cNvSpPr/>
          <p:nvPr/>
        </p:nvSpPr>
        <p:spPr>
          <a:xfrm>
            <a:off x="6574536" y="428853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79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ONLY</a:t>
            </a:r>
            <a:endParaRPr lang="en-US" sz="850" dirty="0"/>
          </a:p>
        </p:txBody>
      </p:sp>
      <p:sp>
        <p:nvSpPr>
          <p:cNvPr id="39" name="Text 32"/>
          <p:cNvSpPr/>
          <p:nvPr/>
        </p:nvSpPr>
        <p:spPr>
          <a:xfrm>
            <a:off x="4581144" y="484632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</a:t>
            </a:r>
            <a:endParaRPr lang="en-US" sz="1400" dirty="0"/>
          </a:p>
        </p:txBody>
      </p:sp>
      <p:sp>
        <p:nvSpPr>
          <p:cNvPr id="40" name="Text 33"/>
          <p:cNvSpPr/>
          <p:nvPr/>
        </p:nvSpPr>
        <p:spPr>
          <a:xfrm>
            <a:off x="4581144" y="5166360"/>
            <a:ext cx="32095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the data onto orthogonal axes ranked by variance explained — used to compress dimensions or visualise high-dimensional data in 2-D.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8211312" y="4069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231A2E"/>
          </a:solidFill>
          <a:ln/>
        </p:spPr>
      </p:sp>
      <p:sp>
        <p:nvSpPr>
          <p:cNvPr id="42" name="Shape 35"/>
          <p:cNvSpPr/>
          <p:nvPr/>
        </p:nvSpPr>
        <p:spPr>
          <a:xfrm>
            <a:off x="8412480" y="4251960"/>
            <a:ext cx="512064" cy="512064"/>
          </a:xfrm>
          <a:prstGeom prst="ellipse">
            <a:avLst/>
          </a:prstGeom>
          <a:solidFill>
            <a:srgbClr val="1B1424"/>
          </a:solidFill>
          <a:ln/>
        </p:spPr>
      </p:sp>
      <p:pic>
        <p:nvPicPr>
          <p:cNvPr id="43" name="Image 5" descr="icons/model_supervis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2" y="4370832"/>
            <a:ext cx="274320" cy="274320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10405872" y="428853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1424"/>
          </a:solidFill>
          <a:ln/>
        </p:spPr>
      </p:sp>
      <p:sp>
        <p:nvSpPr>
          <p:cNvPr id="45" name="Text 37"/>
          <p:cNvSpPr/>
          <p:nvPr/>
        </p:nvSpPr>
        <p:spPr>
          <a:xfrm>
            <a:off x="10405872" y="428853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6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HERE</a:t>
            </a:r>
            <a:endParaRPr lang="en-US" sz="850" dirty="0"/>
          </a:p>
        </p:txBody>
      </p:sp>
      <p:sp>
        <p:nvSpPr>
          <p:cNvPr id="46" name="Text 38"/>
          <p:cNvSpPr/>
          <p:nvPr/>
        </p:nvSpPr>
        <p:spPr>
          <a:xfrm>
            <a:off x="8412480" y="484632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</a:t>
            </a:r>
            <a:endParaRPr lang="en-US" sz="1400" dirty="0"/>
          </a:p>
        </p:txBody>
      </p:sp>
      <p:sp>
        <p:nvSpPr>
          <p:cNvPr id="47" name="Text 39"/>
          <p:cNvSpPr/>
          <p:nvPr/>
        </p:nvSpPr>
        <p:spPr>
          <a:xfrm>
            <a:off x="8412480" y="5166360"/>
            <a:ext cx="32095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mapping from features to a KNOWN label by minimising prediction error on historical examples — regression, trees, SVM, XGBoost, etc.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45720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9A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Giftly</a:t>
            </a:r>
            <a:endParaRPr lang="en-US" sz="1100" dirty="0"/>
          </a:p>
        </p:txBody>
      </p:sp>
      <p:sp>
        <p:nvSpPr>
          <p:cNvPr id="49" name="Text 41"/>
          <p:cNvSpPr/>
          <p:nvPr/>
        </p:nvSpPr>
        <p:spPr>
          <a:xfrm>
            <a:off x="11548872" y="64373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A1B3D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E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 •  SELECTION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&amp; Verdicts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exclusion is demonstrated on this dataset, not just asserted from theory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11292840" cy="45720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5806440"/>
                <a:gridCol w="1371600"/>
              </a:tblGrid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1FA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1FA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1FA"/>
                          </a:solidFill>
                        </a:rPr>
                        <a:t>Result on This Data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4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1FA"/>
                          </a:solidFill>
                        </a:rPr>
                        <a:t>Verdict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424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F1FA"/>
                          </a:solidFill>
                        </a:rPr>
                        <a:t>K-Means (k=16, structural space)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9AC0"/>
                          </a:solidFill>
                        </a:rPr>
                        <a:t>Clustering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79AC0"/>
                          </a:solidFill>
                        </a:rPr>
                        <a:t>Silhouette 0.575 · Davies-Bouldin 1.164 · has predict()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D399"/>
                          </a:solidFill>
                        </a:rPr>
                        <a:t>SELECTED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2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F1FA"/>
                          </a:solidFill>
                        </a:rPr>
                        <a:t>Cosine Similarity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9AC0"/>
                          </a:solidFill>
                        </a:rPr>
                        <a:t>Ranking metric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79AC0"/>
                          </a:solidFill>
                        </a:rPr>
                        <a:t>Unit-norm, non-negative vectors → score reads as a 0-100% match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D399"/>
                          </a:solidFill>
                        </a:rPr>
                        <a:t>SELECTED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2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F1FA"/>
                          </a:solidFill>
                        </a:rPr>
                        <a:t>Unsupervised k-NN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9AC0"/>
                          </a:solidFill>
                        </a:rPr>
                        <a:t>Retrieval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79AC0"/>
                          </a:solidFill>
                        </a:rPr>
                        <a:t>Powers item-to-item "more like this"; no labels required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D399"/>
                          </a:solidFill>
                        </a:rPr>
                        <a:t>SELECTED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2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1FA"/>
                          </a:solidFill>
                        </a:rPr>
                        <a:t>DBSCAN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9AC0"/>
                          </a:solidFill>
                        </a:rPr>
                        <a:t>Clustering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79AC0"/>
                          </a:solidFill>
                        </a:rPr>
                        <a:t>eps 0.05 &amp; 0.10 identical (median 5-NN dist = 0) · 12.5% noise · no predict()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8609E"/>
                          </a:solidFill>
                        </a:rPr>
                        <a:t>REJECTED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1FA"/>
                          </a:solidFill>
                        </a:rPr>
                        <a:t>Hierarchical / Agglomerative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9AC0"/>
                          </a:solidFill>
                        </a:rPr>
                        <a:t>Clustering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79AC0"/>
                          </a:solidFill>
                        </a:rPr>
                        <a:t>45,055^2 pairwise matrix = 16.2 GB · no out-of-sample assignment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8609E"/>
                          </a:solidFill>
                        </a:rPr>
                        <a:t>REJECTED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1FA"/>
                          </a:solidFill>
                        </a:rPr>
                        <a:t>PCA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9AC0"/>
                          </a:solidFill>
                        </a:rPr>
                        <a:t>Dim. reduction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79AC0"/>
                          </a:solidFill>
                        </a:rPr>
                        <a:t>0.74 silhouette in PCA space vs. 0.56 honestly re-scored — no real gain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79AF0"/>
                          </a:solidFill>
                        </a:rPr>
                        <a:t>DIAGNOSTICS ONLY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1FA"/>
                          </a:solidFill>
                        </a:rPr>
                        <a:t>t-SNE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9AC0"/>
                          </a:solidFill>
                        </a:rPr>
                        <a:t>Dim. reduction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79AC0"/>
                          </a:solidFill>
                        </a:rPr>
                        <a:t>No transform() method — a new user query can never be projected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8609E"/>
                          </a:solidFill>
                        </a:rPr>
                        <a:t>REJECTED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1FA"/>
                          </a:solidFill>
                        </a:rPr>
                        <a:t>UMAP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9AC0"/>
                          </a:solidFill>
                        </a:rPr>
                        <a:t>Dim. reduction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79AC0"/>
                          </a:solidFill>
                        </a:rPr>
                        <a:t>Has transform(), but adds a heavy dependency for zero measured gain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79AF0"/>
                          </a:solidFill>
                        </a:rPr>
                        <a:t>EXCLUDED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1FA"/>
                          </a:solidFill>
                        </a:rPr>
                        <a:t>Euclidean Distance (ranking)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9AC0"/>
                          </a:solidFill>
                        </a:rPr>
                        <a:t>Ranking metric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79AC0"/>
                          </a:solidFill>
                        </a:rPr>
                        <a:t>Wrong sensitivity in sparse space; kept only for the 1-D price-fit term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8609E"/>
                          </a:solidFill>
                        </a:rPr>
                        <a:t>REJECTED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1FA"/>
                          </a:solidFill>
                        </a:rPr>
                        <a:t>Supervised Pool (all)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9AC0"/>
                          </a:solidFill>
                        </a:rPr>
                        <a:t>Classification/Regression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79AC0"/>
                          </a:solidFill>
                        </a:rPr>
                        <a:t>No target column exists anywhere in the catalog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8609E"/>
                          </a:solidFill>
                        </a:rPr>
                        <a:t>STRUCTURALLY N/A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9A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Giftly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548872" y="64373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754880"/>
            <a:ext cx="4572000" cy="4572000"/>
          </a:xfrm>
          <a:prstGeom prst="ellipse">
            <a:avLst/>
          </a:prstGeom>
          <a:solidFill>
            <a:srgbClr val="2A1B3D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E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 •  EVALUATION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Evaluation &amp; Selected 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chosen by a rule fixed before seeing results, then stress-tested end to 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vs. k  (selected k = 16)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965960"/>
          <a:ext cx="59436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20624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rule: among k with a smallest cluster &gt;= 1% of the catalog, rank by silhouette (desc) + Davies-Bouldin (asc); lowest rank-sum wins.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800600"/>
            <a:ext cx="6217920" cy="1463040"/>
          </a:xfrm>
          <a:prstGeom prst="roundRect">
            <a:avLst>
              <a:gd name="adj" fmla="val 6250"/>
            </a:avLst>
          </a:prstGeom>
          <a:solidFill>
            <a:srgbClr val="231A2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495604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0.575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94360" y="546811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103120" y="495604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1.164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103120" y="546811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611880" y="495604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611880" y="546811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Cluster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120640" y="495604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120640" y="546811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903720" y="1691640"/>
            <a:ext cx="4846320" cy="4572000"/>
          </a:xfrm>
          <a:prstGeom prst="roundRect">
            <a:avLst>
              <a:gd name="adj" fmla="val 2400"/>
            </a:avLst>
          </a:prstGeom>
          <a:solidFill>
            <a:srgbClr val="231A2E"/>
          </a:solidFill>
          <a:ln/>
        </p:spPr>
      </p:sp>
      <p:sp>
        <p:nvSpPr>
          <p:cNvPr id="19" name="Text 16"/>
          <p:cNvSpPr/>
          <p:nvPr/>
        </p:nvSpPr>
        <p:spPr>
          <a:xfrm>
            <a:off x="7178040" y="1874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Evaluation — 600 Synthetic Queries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178040" y="2450592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2B2038"/>
          </a:solidFill>
          <a:ln/>
        </p:spPr>
      </p:sp>
      <p:sp>
        <p:nvSpPr>
          <p:cNvPr id="21" name="Text 18"/>
          <p:cNvSpPr/>
          <p:nvPr/>
        </p:nvSpPr>
        <p:spPr>
          <a:xfrm>
            <a:off x="7178040" y="25420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178040" y="30449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violations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8641080" y="2450592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2B2038"/>
          </a:solidFill>
          <a:ln/>
        </p:spPr>
      </p:sp>
      <p:sp>
        <p:nvSpPr>
          <p:cNvPr id="24" name="Text 21"/>
          <p:cNvSpPr/>
          <p:nvPr/>
        </p:nvSpPr>
        <p:spPr>
          <a:xfrm>
            <a:off x="8641080" y="25420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641080" y="30449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Empty-result rate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0104120" y="2450592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2B2038"/>
          </a:solidFill>
          <a:ln/>
        </p:spPr>
      </p:sp>
      <p:sp>
        <p:nvSpPr>
          <p:cNvPr id="27" name="Text 24"/>
          <p:cNvSpPr/>
          <p:nvPr/>
        </p:nvSpPr>
        <p:spPr>
          <a:xfrm>
            <a:off x="10104120" y="25420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/ 44 ms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104120" y="30449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p50 / p95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178040" y="3685032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2B2038"/>
          </a:solidFill>
          <a:ln/>
        </p:spPr>
      </p:sp>
      <p:sp>
        <p:nvSpPr>
          <p:cNvPr id="30" name="Text 27"/>
          <p:cNvSpPr/>
          <p:nvPr/>
        </p:nvSpPr>
        <p:spPr>
          <a:xfrm>
            <a:off x="7178040" y="37764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0.896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178040" y="42793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 (gold set)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8641080" y="3685032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2B2038"/>
          </a:solidFill>
          <a:ln/>
        </p:spPr>
      </p:sp>
      <p:sp>
        <p:nvSpPr>
          <p:cNvPr id="33" name="Text 30"/>
          <p:cNvSpPr/>
          <p:nvPr/>
        </p:nvSpPr>
        <p:spPr>
          <a:xfrm>
            <a:off x="8641080" y="37764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641080" y="42793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Intra-list diversity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10104120" y="3685032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2B2038"/>
          </a:solidFill>
          <a:ln/>
        </p:spPr>
      </p:sp>
      <p:sp>
        <p:nvSpPr>
          <p:cNvPr id="36" name="Text 33"/>
          <p:cNvSpPr/>
          <p:nvPr/>
        </p:nvSpPr>
        <p:spPr>
          <a:xfrm>
            <a:off x="10104120" y="37764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61.29%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0104120" y="42793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coverage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178040" y="498348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Dual-space design: K-Means clusters the 64-d structural space (cohesion → silhouette 0.575), while cosine ranks the 160-d combined space with text embeddings (discrimination → 44,798 distinct vectors, 99.5%). Coverage 61.29% at 3,000 queries = 92% of the theoretical ceiling.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45720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9A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Giftly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1548872" y="64373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2A1B3D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E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 •  FEATURE ENGINE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Vectorization &amp; Similarity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structured product fields into one 64-dimensional, block-weighted vector space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231A2E"/>
          </a:solidFill>
          <a:ln/>
        </p:spPr>
      </p:sp>
      <p:pic>
        <p:nvPicPr>
          <p:cNvPr id="7" name="Image 0" descr="icons/engine_ve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1671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Vectorization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5786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dims for ranking (64 structural + 96 text) · 64 dims for clustering — 77% sparse, unit-norm, non-negative (cosine reads as a 0-1 match score)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3017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  (15d)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703320" y="3044952"/>
            <a:ext cx="1874520" cy="182880"/>
          </a:xfrm>
          <a:prstGeom prst="rect">
            <a:avLst/>
          </a:prstGeom>
          <a:solidFill>
            <a:srgbClr val="2B2038"/>
          </a:solidFill>
          <a:ln/>
        </p:spPr>
      </p:sp>
      <p:sp>
        <p:nvSpPr>
          <p:cNvPr id="12" name="Shape 9"/>
          <p:cNvSpPr/>
          <p:nvPr/>
        </p:nvSpPr>
        <p:spPr>
          <a:xfrm>
            <a:off x="3703320" y="3044952"/>
            <a:ext cx="1874520" cy="182880"/>
          </a:xfrm>
          <a:prstGeom prst="rect">
            <a:avLst/>
          </a:prstGeom>
          <a:solidFill>
            <a:srgbClr val="B79AF0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0" y="29992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68680" y="33741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Occasions  (10d)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703320" y="3401568"/>
            <a:ext cx="1874520" cy="182880"/>
          </a:xfrm>
          <a:prstGeom prst="rect">
            <a:avLst/>
          </a:prstGeom>
          <a:solidFill>
            <a:srgbClr val="2B2038"/>
          </a:solidFill>
          <a:ln/>
        </p:spPr>
      </p:sp>
      <p:sp>
        <p:nvSpPr>
          <p:cNvPr id="16" name="Shape 13"/>
          <p:cNvSpPr/>
          <p:nvPr/>
        </p:nvSpPr>
        <p:spPr>
          <a:xfrm>
            <a:off x="3703320" y="3401568"/>
            <a:ext cx="1212925" cy="182880"/>
          </a:xfrm>
          <a:prstGeom prst="rect">
            <a:avLst/>
          </a:prstGeom>
          <a:solidFill>
            <a:srgbClr val="E8609E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0" y="335584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68680" y="37307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(category+type)  (26d)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703320" y="3758184"/>
            <a:ext cx="1874520" cy="182880"/>
          </a:xfrm>
          <a:prstGeom prst="rect">
            <a:avLst/>
          </a:prstGeom>
          <a:solidFill>
            <a:srgbClr val="2B2038"/>
          </a:solidFill>
          <a:ln/>
        </p:spPr>
      </p:sp>
      <p:sp>
        <p:nvSpPr>
          <p:cNvPr id="20" name="Shape 17"/>
          <p:cNvSpPr/>
          <p:nvPr/>
        </p:nvSpPr>
        <p:spPr>
          <a:xfrm>
            <a:off x="3703320" y="3758184"/>
            <a:ext cx="771861" cy="182880"/>
          </a:xfrm>
          <a:prstGeom prst="rect">
            <a:avLst/>
          </a:prstGeom>
          <a:solidFill>
            <a:srgbClr val="8B7BC7"/>
          </a:solidFill>
          <a:ln/>
        </p:spPr>
      </p:sp>
      <p:sp>
        <p:nvSpPr>
          <p:cNvPr id="21" name="Text 18"/>
          <p:cNvSpPr/>
          <p:nvPr/>
        </p:nvSpPr>
        <p:spPr>
          <a:xfrm>
            <a:off x="5669280" y="371246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68680" y="40873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life-stage  (6d)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703320" y="4114800"/>
            <a:ext cx="1874520" cy="182880"/>
          </a:xfrm>
          <a:prstGeom prst="rect">
            <a:avLst/>
          </a:prstGeom>
          <a:solidFill>
            <a:srgbClr val="2B2038"/>
          </a:solidFill>
          <a:ln/>
        </p:spPr>
      </p:sp>
      <p:sp>
        <p:nvSpPr>
          <p:cNvPr id="24" name="Shape 21"/>
          <p:cNvSpPr/>
          <p:nvPr/>
        </p:nvSpPr>
        <p:spPr>
          <a:xfrm>
            <a:off x="3703320" y="4114800"/>
            <a:ext cx="661595" cy="182880"/>
          </a:xfrm>
          <a:prstGeom prst="rect">
            <a:avLst/>
          </a:prstGeom>
          <a:solidFill>
            <a:srgbClr val="6FB8B0"/>
          </a:solidFill>
          <a:ln/>
        </p:spPr>
      </p:sp>
      <p:sp>
        <p:nvSpPr>
          <p:cNvPr id="25" name="Text 22"/>
          <p:cNvSpPr/>
          <p:nvPr/>
        </p:nvSpPr>
        <p:spPr>
          <a:xfrm>
            <a:off x="5669280" y="40690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68680" y="444398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band  (5d)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703320" y="4471416"/>
            <a:ext cx="1874520" cy="182880"/>
          </a:xfrm>
          <a:prstGeom prst="rect">
            <a:avLst/>
          </a:prstGeom>
          <a:solidFill>
            <a:srgbClr val="2B2038"/>
          </a:solidFill>
          <a:ln/>
        </p:spPr>
      </p:sp>
      <p:sp>
        <p:nvSpPr>
          <p:cNvPr id="28" name="Shape 25"/>
          <p:cNvSpPr/>
          <p:nvPr/>
        </p:nvSpPr>
        <p:spPr>
          <a:xfrm>
            <a:off x="3703320" y="4471416"/>
            <a:ext cx="551329" cy="182880"/>
          </a:xfrm>
          <a:prstGeom prst="rect">
            <a:avLst/>
          </a:prstGeom>
          <a:solidFill>
            <a:srgbClr val="D08F5E"/>
          </a:solidFill>
          <a:ln/>
        </p:spPr>
      </p:sp>
      <p:sp>
        <p:nvSpPr>
          <p:cNvPr id="29" name="Text 26"/>
          <p:cNvSpPr/>
          <p:nvPr/>
        </p:nvSpPr>
        <p:spPr>
          <a:xfrm>
            <a:off x="5669280" y="442569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68680" y="4800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serves-vector  (2d)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703320" y="4828032"/>
            <a:ext cx="1874520" cy="182880"/>
          </a:xfrm>
          <a:prstGeom prst="rect">
            <a:avLst/>
          </a:prstGeom>
          <a:solidFill>
            <a:srgbClr val="2B2038"/>
          </a:solidFill>
          <a:ln/>
        </p:spPr>
      </p:sp>
      <p:sp>
        <p:nvSpPr>
          <p:cNvPr id="32" name="Shape 29"/>
          <p:cNvSpPr/>
          <p:nvPr/>
        </p:nvSpPr>
        <p:spPr>
          <a:xfrm>
            <a:off x="3703320" y="4828032"/>
            <a:ext cx="441064" cy="182880"/>
          </a:xfrm>
          <a:prstGeom prst="rect">
            <a:avLst/>
          </a:prstGeom>
          <a:solidFill>
            <a:srgbClr val="9B7EDE"/>
          </a:solidFill>
          <a:ln/>
        </p:spPr>
      </p:sp>
      <p:sp>
        <p:nvSpPr>
          <p:cNvPr id="33" name="Text 30"/>
          <p:cNvSpPr/>
          <p:nvPr/>
        </p:nvSpPr>
        <p:spPr>
          <a:xfrm>
            <a:off x="5669280" y="47823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68680" y="5294376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is L2-normalised on its own, then scaled by an explicit weight — so a block's influence is a stated decision, not an accident of how many dimensions it happens to have.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263640" y="187452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231A2E"/>
          </a:solidFill>
          <a:ln w="12700">
            <a:solidFill>
              <a:srgbClr val="E8609E"/>
            </a:solidFill>
            <a:prstDash val="solid"/>
          </a:ln>
        </p:spPr>
      </p:sp>
      <p:pic>
        <p:nvPicPr>
          <p:cNvPr id="36" name="Image 1" descr="icons/engine_clu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03120"/>
            <a:ext cx="457200" cy="45720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7178040" y="21671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→ Rank → Explain</a:t>
            </a:r>
            <a:endParaRPr lang="en-US" sz="1600" dirty="0"/>
          </a:p>
        </p:txBody>
      </p:sp>
      <p:sp>
        <p:nvSpPr>
          <p:cNvPr id="38" name="Shape 34"/>
          <p:cNvSpPr/>
          <p:nvPr/>
        </p:nvSpPr>
        <p:spPr>
          <a:xfrm>
            <a:off x="6537960" y="2715768"/>
            <a:ext cx="109728" cy="109728"/>
          </a:xfrm>
          <a:prstGeom prst="ellipse">
            <a:avLst/>
          </a:prstGeom>
          <a:solidFill>
            <a:srgbClr val="B79AF0"/>
          </a:solidFill>
          <a:ln/>
        </p:spPr>
      </p:sp>
      <p:sp>
        <p:nvSpPr>
          <p:cNvPr id="39" name="Text 35"/>
          <p:cNvSpPr/>
          <p:nvPr/>
        </p:nvSpPr>
        <p:spPr>
          <a:xfrm>
            <a:off x="6748272" y="26060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 = 16)</a:t>
            </a:r>
            <a:endParaRPr lang="en-US" sz="1250" dirty="0"/>
          </a:p>
        </p:txBody>
      </p:sp>
      <p:sp>
        <p:nvSpPr>
          <p:cNvPr id="40" name="Text 36"/>
          <p:cNvSpPr/>
          <p:nvPr/>
        </p:nvSpPr>
        <p:spPr>
          <a:xfrm>
            <a:off x="6748272" y="2880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the 64-d structural space into 16 archetypes — clustering needs cohesion, so it runs before the text block is added. The only clustering method offering predict() for a brand-new user query — essential at request time.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6537960" y="3584448"/>
            <a:ext cx="109728" cy="109728"/>
          </a:xfrm>
          <a:prstGeom prst="ellipse">
            <a:avLst/>
          </a:prstGeom>
          <a:solidFill>
            <a:srgbClr val="B79AF0"/>
          </a:solidFill>
          <a:ln/>
        </p:spPr>
      </p:sp>
      <p:sp>
        <p:nvSpPr>
          <p:cNvPr id="42" name="Text 38"/>
          <p:cNvSpPr/>
          <p:nvPr/>
        </p:nvSpPr>
        <p:spPr>
          <a:xfrm>
            <a:off x="6748272" y="34747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250" dirty="0"/>
          </a:p>
        </p:txBody>
      </p:sp>
      <p:sp>
        <p:nvSpPr>
          <p:cNvPr id="43" name="Text 39"/>
          <p:cNvSpPr/>
          <p:nvPr/>
        </p:nvSpPr>
        <p:spPr>
          <a:xfrm>
            <a:off x="6748272" y="37490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the admissible items after hard filtering. Because every vector is unit-norm and non-negative, cosine lands in [0,1] and reads directly as a match %.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6537960" y="4453128"/>
            <a:ext cx="109728" cy="109728"/>
          </a:xfrm>
          <a:prstGeom prst="ellipse">
            <a:avLst/>
          </a:prstGeom>
          <a:solidFill>
            <a:srgbClr val="B79AF0"/>
          </a:solidFill>
          <a:ln/>
        </p:spPr>
      </p:sp>
      <p:sp>
        <p:nvSpPr>
          <p:cNvPr id="45" name="Text 41"/>
          <p:cNvSpPr/>
          <p:nvPr/>
        </p:nvSpPr>
        <p:spPr>
          <a:xfrm>
            <a:off x="6748272" y="43434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Filter-then-Rank</a:t>
            </a:r>
            <a:endParaRPr lang="en-US" sz="1250" dirty="0"/>
          </a:p>
        </p:txBody>
      </p:sp>
      <p:sp>
        <p:nvSpPr>
          <p:cNvPr id="46" name="Text 42"/>
          <p:cNvSpPr/>
          <p:nvPr/>
        </p:nvSpPr>
        <p:spPr>
          <a:xfrm>
            <a:off x="6748272" y="46177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budget, and gender are enforced as hard constraints before any similarity math runs — a 900 SAR item is wrong, not "slightly worse", for a 200 SAR budget.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6537960" y="5321808"/>
            <a:ext cx="109728" cy="109728"/>
          </a:xfrm>
          <a:prstGeom prst="ellipse">
            <a:avLst/>
          </a:prstGeom>
          <a:solidFill>
            <a:srgbClr val="B79AF0"/>
          </a:solidFill>
          <a:ln/>
        </p:spPr>
      </p:sp>
      <p:sp>
        <p:nvSpPr>
          <p:cNvPr id="48" name="Text 44"/>
          <p:cNvSpPr/>
          <p:nvPr/>
        </p:nvSpPr>
        <p:spPr>
          <a:xfrm>
            <a:off x="6748272" y="52120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k-NN</a:t>
            </a:r>
            <a:endParaRPr lang="en-US" sz="1250" dirty="0"/>
          </a:p>
        </p:txBody>
      </p:sp>
      <p:sp>
        <p:nvSpPr>
          <p:cNvPr id="49" name="Text 45"/>
          <p:cNvSpPr/>
          <p:nvPr/>
        </p:nvSpPr>
        <p:spPr>
          <a:xfrm>
            <a:off x="6748272" y="5486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"more like this" item-to-item retrieval, and is the natural swap-in point for an ANN index (FAISS/ScaNN) as the catalog scales.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45720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9A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Giftly</a:t>
            </a:r>
            <a:endParaRPr lang="en-US" sz="1100" dirty="0"/>
          </a:p>
        </p:txBody>
      </p:sp>
      <p:sp>
        <p:nvSpPr>
          <p:cNvPr id="51" name="Text 47"/>
          <p:cNvSpPr/>
          <p:nvPr/>
        </p:nvSpPr>
        <p:spPr>
          <a:xfrm>
            <a:off x="11548872" y="64373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2A1B3D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E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Technology Stack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catalog to a served recommendation in under 55 milliseconds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" y="21031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231A2E"/>
          </a:solidFill>
          <a:ln w="12700">
            <a:solidFill>
              <a:srgbClr val="3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Scraper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24328" y="2628900"/>
            <a:ext cx="329184" cy="0"/>
          </a:xfrm>
          <a:prstGeom prst="line">
            <a:avLst/>
          </a:prstGeom>
          <a:noFill/>
          <a:ln w="25400">
            <a:solidFill>
              <a:srgbClr val="E8609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53512" y="21031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231A2E"/>
          </a:solidFill>
          <a:ln w="12700">
            <a:solidFill>
              <a:srgbClr val="3A2E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EDA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28032" y="2628900"/>
            <a:ext cx="329184" cy="0"/>
          </a:xfrm>
          <a:prstGeom prst="line">
            <a:avLst/>
          </a:prstGeom>
          <a:noFill/>
          <a:ln w="25400">
            <a:solidFill>
              <a:srgbClr val="E8609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57216" y="21031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B79AF0"/>
          </a:solidFill>
          <a:ln/>
        </p:spPr>
      </p:sp>
      <p:sp>
        <p:nvSpPr>
          <p:cNvPr id="13" name="Text 11"/>
          <p:cNvSpPr/>
          <p:nvPr/>
        </p:nvSpPr>
        <p:spPr>
          <a:xfrm>
            <a:off x="5157216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60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Engine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31736" y="2628900"/>
            <a:ext cx="329184" cy="0"/>
          </a:xfrm>
          <a:prstGeom prst="line">
            <a:avLst/>
          </a:prstGeom>
          <a:noFill/>
          <a:ln w="25400">
            <a:solidFill>
              <a:srgbClr val="E8609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60920" y="21031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231A2E"/>
          </a:solidFill>
          <a:ln w="12700">
            <a:solidFill>
              <a:srgbClr val="3A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235440" y="2628900"/>
            <a:ext cx="329184" cy="0"/>
          </a:xfrm>
          <a:prstGeom prst="line">
            <a:avLst/>
          </a:prstGeom>
          <a:noFill/>
          <a:ln w="25400">
            <a:solidFill>
              <a:srgbClr val="E8609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564624" y="21031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231A2E"/>
          </a:solidFill>
          <a:ln w="12700">
            <a:solidFill>
              <a:srgbClr val="3A2E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64624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1874520" cy="1508760"/>
          </a:xfrm>
          <a:prstGeom prst="roundRect">
            <a:avLst>
              <a:gd name="adj" fmla="val 6061"/>
            </a:avLst>
          </a:prstGeom>
          <a:solidFill>
            <a:srgbClr val="231A2E"/>
          </a:solidFill>
          <a:ln/>
        </p:spPr>
      </p:sp>
      <p:pic>
        <p:nvPicPr>
          <p:cNvPr id="22" name="Image 0" descr="icons/tech_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4343400"/>
            <a:ext cx="658368" cy="6583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48640" y="50932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651760" y="4160520"/>
            <a:ext cx="1874520" cy="1508760"/>
          </a:xfrm>
          <a:prstGeom prst="roundRect">
            <a:avLst>
              <a:gd name="adj" fmla="val 6061"/>
            </a:avLst>
          </a:prstGeom>
          <a:solidFill>
            <a:srgbClr val="231A2E"/>
          </a:solidFill>
          <a:ln/>
        </p:spPr>
      </p:sp>
      <p:pic>
        <p:nvPicPr>
          <p:cNvPr id="25" name="Image 1" descr="icons/tech_pand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836" y="4343400"/>
            <a:ext cx="658368" cy="6583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651760" y="50932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754880" y="4160520"/>
            <a:ext cx="1874520" cy="1508760"/>
          </a:xfrm>
          <a:prstGeom prst="roundRect">
            <a:avLst>
              <a:gd name="adj" fmla="val 6061"/>
            </a:avLst>
          </a:prstGeom>
          <a:solidFill>
            <a:srgbClr val="231A2E"/>
          </a:solidFill>
          <a:ln/>
        </p:spPr>
      </p:sp>
      <p:pic>
        <p:nvPicPr>
          <p:cNvPr id="28" name="Image 2" descr="icons/tech_sklea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956" y="4343400"/>
            <a:ext cx="658368" cy="65836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754880" y="50932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858000" y="4160520"/>
            <a:ext cx="1874520" cy="1508760"/>
          </a:xfrm>
          <a:prstGeom prst="roundRect">
            <a:avLst>
              <a:gd name="adj" fmla="val 6061"/>
            </a:avLst>
          </a:prstGeom>
          <a:solidFill>
            <a:srgbClr val="231A2E"/>
          </a:solidFill>
          <a:ln/>
        </p:spPr>
      </p:sp>
      <p:pic>
        <p:nvPicPr>
          <p:cNvPr id="31" name="Image 3" descr="icons/tech_fastap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343400"/>
            <a:ext cx="658368" cy="6583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58000" y="50932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8961120" y="4160520"/>
            <a:ext cx="1874520" cy="1508760"/>
          </a:xfrm>
          <a:prstGeom prst="roundRect">
            <a:avLst>
              <a:gd name="adj" fmla="val 6061"/>
            </a:avLst>
          </a:prstGeom>
          <a:solidFill>
            <a:srgbClr val="231A2E"/>
          </a:solidFill>
          <a:ln/>
        </p:spPr>
      </p:sp>
      <p:pic>
        <p:nvPicPr>
          <p:cNvPr id="34" name="Image 4" descr="icons/tech_streaml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9196" y="4343400"/>
            <a:ext cx="658368" cy="65836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961120" y="50932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548640" y="577900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offline notebook exports one serialized artifact (pipeline + K-Means model + item embeddings + catalog, ~69 MB) that FastAPI loads once at startup and serves statelessly; Streamlit renders the request form and results grid on top of the API.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45720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9A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Giftly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11548872" y="64373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5029200"/>
            <a:ext cx="4114800" cy="4114800"/>
          </a:xfrm>
          <a:prstGeom prst="ellipse">
            <a:avLst/>
          </a:prstGeom>
          <a:solidFill>
            <a:srgbClr val="2A1B3D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E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 •  1 OF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0408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the Collection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real gifts by category, occasion, and budget — no questionnaire required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60E1E"/>
          </a:solidFill>
          <a:ln/>
        </p:spPr>
      </p:sp>
      <p:pic>
        <p:nvPicPr>
          <p:cNvPr id="7" name="Image 0" descr="icons/nav_fi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8308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169164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Finder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075688" y="169164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B2038"/>
          </a:solidFill>
          <a:ln w="12700">
            <a:solidFill>
              <a:srgbClr val="B79AF0"/>
            </a:solidFill>
            <a:prstDash val="solid"/>
          </a:ln>
        </p:spPr>
      </p:sp>
      <p:pic>
        <p:nvPicPr>
          <p:cNvPr id="10" name="Image 1" descr="icons/nav_expl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16" y="178308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04872" y="16916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419856" y="169164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160E1E"/>
          </a:solidFill>
          <a:ln/>
        </p:spPr>
      </p:sp>
      <p:pic>
        <p:nvPicPr>
          <p:cNvPr id="13" name="Image 2" descr="icons/nav_sav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17830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49040" y="169164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626864" y="169164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60E1E"/>
          </a:solidFill>
          <a:ln/>
        </p:spPr>
      </p:sp>
      <p:pic>
        <p:nvPicPr>
          <p:cNvPr id="16" name="Image 3" descr="icons/nav_comp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78308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56048" y="16916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016752" y="169164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60E1E"/>
          </a:solidFill>
          <a:ln/>
        </p:spPr>
      </p:sp>
      <p:pic>
        <p:nvPicPr>
          <p:cNvPr id="19" name="Image 4" descr="icons/nav_insigh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783080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345936" y="1691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Insights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48640" y="2286000"/>
            <a:ext cx="11109960" cy="777240"/>
          </a:xfrm>
          <a:prstGeom prst="roundRect">
            <a:avLst>
              <a:gd name="adj" fmla="val 11765"/>
            </a:avLst>
          </a:prstGeom>
          <a:solidFill>
            <a:srgbClr val="231A2E"/>
          </a:solidFill>
          <a:ln/>
        </p:spPr>
      </p:sp>
      <p:sp>
        <p:nvSpPr>
          <p:cNvPr id="22" name="Text 15"/>
          <p:cNvSpPr/>
          <p:nvPr/>
        </p:nvSpPr>
        <p:spPr>
          <a:xfrm>
            <a:off x="822960" y="2377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category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822960" y="2624328"/>
            <a:ext cx="2377440" cy="329184"/>
          </a:xfrm>
          <a:prstGeom prst="roundRect">
            <a:avLst>
              <a:gd name="adj" fmla="val 16667"/>
            </a:avLst>
          </a:prstGeom>
          <a:solidFill>
            <a:srgbClr val="2B2038"/>
          </a:solidFill>
          <a:ln/>
        </p:spPr>
      </p:sp>
      <p:sp>
        <p:nvSpPr>
          <p:cNvPr id="24" name="Text 17"/>
          <p:cNvSpPr/>
          <p:nvPr/>
        </p:nvSpPr>
        <p:spPr>
          <a:xfrm>
            <a:off x="932688" y="26243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categories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3566160" y="2377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occasion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3566160" y="2624328"/>
            <a:ext cx="2377440" cy="329184"/>
          </a:xfrm>
          <a:prstGeom prst="roundRect">
            <a:avLst>
              <a:gd name="adj" fmla="val 16667"/>
            </a:avLst>
          </a:prstGeom>
          <a:solidFill>
            <a:srgbClr val="2B2038"/>
          </a:solidFill>
          <a:ln/>
        </p:spPr>
      </p:sp>
      <p:sp>
        <p:nvSpPr>
          <p:cNvPr id="27" name="Text 20"/>
          <p:cNvSpPr/>
          <p:nvPr/>
        </p:nvSpPr>
        <p:spPr>
          <a:xfrm>
            <a:off x="3675888" y="26243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occasion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6309360" y="2377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6309360" y="2624328"/>
            <a:ext cx="2377440" cy="329184"/>
          </a:xfrm>
          <a:prstGeom prst="roundRect">
            <a:avLst>
              <a:gd name="adj" fmla="val 16667"/>
            </a:avLst>
          </a:prstGeom>
          <a:solidFill>
            <a:srgbClr val="2B2038"/>
          </a:solidFill>
          <a:ln/>
        </p:spPr>
      </p:sp>
      <p:sp>
        <p:nvSpPr>
          <p:cNvPr id="30" name="Text 23"/>
          <p:cNvSpPr/>
          <p:nvPr/>
        </p:nvSpPr>
        <p:spPr>
          <a:xfrm>
            <a:off x="6419088" y="26243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SAR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9098280" y="262432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B79AF0"/>
          </a:solidFill>
          <a:ln/>
        </p:spPr>
      </p:sp>
      <p:sp>
        <p:nvSpPr>
          <p:cNvPr id="32" name="Text 25"/>
          <p:cNvSpPr/>
          <p:nvPr/>
        </p:nvSpPr>
        <p:spPr>
          <a:xfrm>
            <a:off x="9098280" y="2624328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New Picks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548640" y="324612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231A2E"/>
          </a:solidFill>
          <a:ln/>
        </p:spPr>
      </p:sp>
      <p:sp>
        <p:nvSpPr>
          <p:cNvPr id="34" name="Shape 27"/>
          <p:cNvSpPr/>
          <p:nvPr/>
        </p:nvSpPr>
        <p:spPr>
          <a:xfrm>
            <a:off x="676656" y="3374136"/>
            <a:ext cx="2441448" cy="1234440"/>
          </a:xfrm>
          <a:prstGeom prst="roundRect">
            <a:avLst>
              <a:gd name="adj" fmla="val 4444"/>
            </a:avLst>
          </a:prstGeom>
          <a:solidFill>
            <a:srgbClr val="3A2F48"/>
          </a:solidFill>
          <a:ln/>
        </p:spPr>
      </p:sp>
      <p:pic>
        <p:nvPicPr>
          <p:cNvPr id="35" name="Image 5" descr="icons/flow_gif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6212" y="3813048"/>
            <a:ext cx="402336" cy="402336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676656" y="469087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2B2038"/>
          </a:solidFill>
          <a:ln/>
        </p:spPr>
      </p:sp>
      <p:sp>
        <p:nvSpPr>
          <p:cNvPr id="37" name="Text 29"/>
          <p:cNvSpPr/>
          <p:nvPr/>
        </p:nvSpPr>
        <p:spPr>
          <a:xfrm>
            <a:off x="676656" y="469087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#1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685800" y="5001768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E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HAIRCARE</a:t>
            </a:r>
            <a:endParaRPr lang="en-US" sz="750" dirty="0"/>
          </a:p>
        </p:txBody>
      </p:sp>
      <p:sp>
        <p:nvSpPr>
          <p:cNvPr id="39" name="Text 31"/>
          <p:cNvSpPr/>
          <p:nvPr/>
        </p:nvSpPr>
        <p:spPr>
          <a:xfrm>
            <a:off x="685800" y="517550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Pear &amp; Freesia Hair Mist, 30ml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685800" y="5650992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 Malone London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685800" y="58521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9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 SAR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3383280" y="324612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231A2E"/>
          </a:solidFill>
          <a:ln/>
        </p:spPr>
      </p:sp>
      <p:sp>
        <p:nvSpPr>
          <p:cNvPr id="43" name="Shape 35"/>
          <p:cNvSpPr/>
          <p:nvPr/>
        </p:nvSpPr>
        <p:spPr>
          <a:xfrm>
            <a:off x="3511296" y="3374136"/>
            <a:ext cx="2441448" cy="1234440"/>
          </a:xfrm>
          <a:prstGeom prst="roundRect">
            <a:avLst>
              <a:gd name="adj" fmla="val 4444"/>
            </a:avLst>
          </a:prstGeom>
          <a:solidFill>
            <a:srgbClr val="3A2F48"/>
          </a:solidFill>
          <a:ln/>
        </p:spPr>
      </p:sp>
      <p:pic>
        <p:nvPicPr>
          <p:cNvPr id="44" name="Image 6" descr="icons/flow_gif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0852" y="3813048"/>
            <a:ext cx="402336" cy="402336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3511296" y="469087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2B2038"/>
          </a:solidFill>
          <a:ln/>
        </p:spPr>
      </p:sp>
      <p:sp>
        <p:nvSpPr>
          <p:cNvPr id="46" name="Text 37"/>
          <p:cNvSpPr/>
          <p:nvPr/>
        </p:nvSpPr>
        <p:spPr>
          <a:xfrm>
            <a:off x="3511296" y="469087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#2</a:t>
            </a:r>
            <a:endParaRPr lang="en-US" sz="800" dirty="0"/>
          </a:p>
        </p:txBody>
      </p:sp>
      <p:sp>
        <p:nvSpPr>
          <p:cNvPr id="47" name="Text 38"/>
          <p:cNvSpPr/>
          <p:nvPr/>
        </p:nvSpPr>
        <p:spPr>
          <a:xfrm>
            <a:off x="3520440" y="5001768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E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 &amp; FRAGRANCE</a:t>
            </a:r>
            <a:endParaRPr lang="en-US" sz="750" dirty="0"/>
          </a:p>
        </p:txBody>
      </p:sp>
      <p:sp>
        <p:nvSpPr>
          <p:cNvPr id="48" name="Text 39"/>
          <p:cNvSpPr/>
          <p:nvPr/>
        </p:nvSpPr>
        <p:spPr>
          <a:xfrm>
            <a:off x="3520440" y="517550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Lancôme Idôle Travel Gift Set</a:t>
            </a:r>
            <a:endParaRPr lang="en-US" sz="950" dirty="0"/>
          </a:p>
        </p:txBody>
      </p:sp>
      <p:sp>
        <p:nvSpPr>
          <p:cNvPr id="49" name="Text 40"/>
          <p:cNvSpPr/>
          <p:nvPr/>
        </p:nvSpPr>
        <p:spPr>
          <a:xfrm>
            <a:off x="3520440" y="5650992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Floward</a:t>
            </a:r>
            <a:endParaRPr lang="en-US" sz="850" dirty="0"/>
          </a:p>
        </p:txBody>
      </p:sp>
      <p:sp>
        <p:nvSpPr>
          <p:cNvPr id="50" name="Text 41"/>
          <p:cNvSpPr/>
          <p:nvPr/>
        </p:nvSpPr>
        <p:spPr>
          <a:xfrm>
            <a:off x="3520440" y="58521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9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SAR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6217920" y="324612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231A2E"/>
          </a:solidFill>
          <a:ln/>
        </p:spPr>
      </p:sp>
      <p:sp>
        <p:nvSpPr>
          <p:cNvPr id="52" name="Shape 43"/>
          <p:cNvSpPr/>
          <p:nvPr/>
        </p:nvSpPr>
        <p:spPr>
          <a:xfrm>
            <a:off x="6345936" y="3374136"/>
            <a:ext cx="2441448" cy="1234440"/>
          </a:xfrm>
          <a:prstGeom prst="roundRect">
            <a:avLst>
              <a:gd name="adj" fmla="val 4444"/>
            </a:avLst>
          </a:prstGeom>
          <a:solidFill>
            <a:srgbClr val="3A2F48"/>
          </a:solidFill>
          <a:ln/>
        </p:spPr>
      </p:sp>
      <p:pic>
        <p:nvPicPr>
          <p:cNvPr id="53" name="Image 7" descr="icons/flow_gif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5492" y="3813048"/>
            <a:ext cx="402336" cy="402336"/>
          </a:xfrm>
          <a:prstGeom prst="rect">
            <a:avLst/>
          </a:prstGeom>
        </p:spPr>
      </p:pic>
      <p:sp>
        <p:nvSpPr>
          <p:cNvPr id="54" name="Shape 44"/>
          <p:cNvSpPr/>
          <p:nvPr/>
        </p:nvSpPr>
        <p:spPr>
          <a:xfrm>
            <a:off x="6345936" y="469087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2B2038"/>
          </a:solidFill>
          <a:ln/>
        </p:spPr>
      </p:sp>
      <p:sp>
        <p:nvSpPr>
          <p:cNvPr id="55" name="Text 45"/>
          <p:cNvSpPr/>
          <p:nvPr/>
        </p:nvSpPr>
        <p:spPr>
          <a:xfrm>
            <a:off x="6345936" y="469087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#3</a:t>
            </a:r>
            <a:endParaRPr lang="en-US" sz="800" dirty="0"/>
          </a:p>
        </p:txBody>
      </p:sp>
      <p:sp>
        <p:nvSpPr>
          <p:cNvPr id="56" name="Text 46"/>
          <p:cNvSpPr/>
          <p:nvPr/>
        </p:nvSpPr>
        <p:spPr>
          <a:xfrm>
            <a:off x="6355080" y="5001768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E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HAIRCARE</a:t>
            </a:r>
            <a:endParaRPr lang="en-US" sz="750" dirty="0"/>
          </a:p>
        </p:txBody>
      </p:sp>
      <p:sp>
        <p:nvSpPr>
          <p:cNvPr id="57" name="Text 47"/>
          <p:cNvSpPr/>
          <p:nvPr/>
        </p:nvSpPr>
        <p:spPr>
          <a:xfrm>
            <a:off x="6355080" y="517550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ChakraTM 2 Balancing Pure-Fume Mist</a:t>
            </a:r>
            <a:endParaRPr lang="en-US" sz="950" dirty="0"/>
          </a:p>
        </p:txBody>
      </p:sp>
      <p:sp>
        <p:nvSpPr>
          <p:cNvPr id="58" name="Text 48"/>
          <p:cNvSpPr/>
          <p:nvPr/>
        </p:nvSpPr>
        <p:spPr>
          <a:xfrm>
            <a:off x="6355080" y="5650992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AVEDA</a:t>
            </a:r>
            <a:endParaRPr lang="en-US" sz="850" dirty="0"/>
          </a:p>
        </p:txBody>
      </p:sp>
      <p:sp>
        <p:nvSpPr>
          <p:cNvPr id="59" name="Text 49"/>
          <p:cNvSpPr/>
          <p:nvPr/>
        </p:nvSpPr>
        <p:spPr>
          <a:xfrm>
            <a:off x="6355080" y="58521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9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SAR</a:t>
            </a:r>
            <a:endParaRPr lang="en-US" sz="1100" dirty="0"/>
          </a:p>
        </p:txBody>
      </p:sp>
      <p:sp>
        <p:nvSpPr>
          <p:cNvPr id="60" name="Shape 50"/>
          <p:cNvSpPr/>
          <p:nvPr/>
        </p:nvSpPr>
        <p:spPr>
          <a:xfrm>
            <a:off x="9052560" y="324612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231A2E"/>
          </a:solidFill>
          <a:ln/>
        </p:spPr>
      </p:sp>
      <p:sp>
        <p:nvSpPr>
          <p:cNvPr id="61" name="Shape 51"/>
          <p:cNvSpPr/>
          <p:nvPr/>
        </p:nvSpPr>
        <p:spPr>
          <a:xfrm>
            <a:off x="9180576" y="3374136"/>
            <a:ext cx="2441448" cy="1234440"/>
          </a:xfrm>
          <a:prstGeom prst="roundRect">
            <a:avLst>
              <a:gd name="adj" fmla="val 4444"/>
            </a:avLst>
          </a:prstGeom>
          <a:solidFill>
            <a:srgbClr val="3A2F48"/>
          </a:solidFill>
          <a:ln/>
        </p:spPr>
      </p:sp>
      <p:pic>
        <p:nvPicPr>
          <p:cNvPr id="62" name="Image 8" descr="icons/flow_gif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0132" y="3813048"/>
            <a:ext cx="402336" cy="402336"/>
          </a:xfrm>
          <a:prstGeom prst="rect">
            <a:avLst/>
          </a:prstGeom>
        </p:spPr>
      </p:pic>
      <p:sp>
        <p:nvSpPr>
          <p:cNvPr id="63" name="Shape 52"/>
          <p:cNvSpPr/>
          <p:nvPr/>
        </p:nvSpPr>
        <p:spPr>
          <a:xfrm>
            <a:off x="9180576" y="469087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2B2038"/>
          </a:solidFill>
          <a:ln/>
        </p:spPr>
      </p:sp>
      <p:sp>
        <p:nvSpPr>
          <p:cNvPr id="64" name="Text 53"/>
          <p:cNvSpPr/>
          <p:nvPr/>
        </p:nvSpPr>
        <p:spPr>
          <a:xfrm>
            <a:off x="9180576" y="469087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#4</a:t>
            </a:r>
            <a:endParaRPr lang="en-US" sz="800" dirty="0"/>
          </a:p>
        </p:txBody>
      </p:sp>
      <p:sp>
        <p:nvSpPr>
          <p:cNvPr id="65" name="Text 54"/>
          <p:cNvSpPr/>
          <p:nvPr/>
        </p:nvSpPr>
        <p:spPr>
          <a:xfrm>
            <a:off x="9189720" y="5001768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E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750" dirty="0"/>
          </a:p>
        </p:txBody>
      </p:sp>
      <p:sp>
        <p:nvSpPr>
          <p:cNvPr id="66" name="Text 55"/>
          <p:cNvSpPr/>
          <p:nvPr/>
        </p:nvSpPr>
        <p:spPr>
          <a:xfrm>
            <a:off x="9189720" y="517550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Roncato Cabin Luggage Carry-On (20")</a:t>
            </a:r>
            <a:endParaRPr lang="en-US" sz="950" dirty="0"/>
          </a:p>
        </p:txBody>
      </p:sp>
      <p:sp>
        <p:nvSpPr>
          <p:cNvPr id="67" name="Text 56"/>
          <p:cNvSpPr/>
          <p:nvPr/>
        </p:nvSpPr>
        <p:spPr>
          <a:xfrm>
            <a:off x="9189720" y="5650992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Unbranded</a:t>
            </a:r>
            <a:endParaRPr lang="en-US" sz="850" dirty="0"/>
          </a:p>
        </p:txBody>
      </p:sp>
      <p:sp>
        <p:nvSpPr>
          <p:cNvPr id="68" name="Text 57"/>
          <p:cNvSpPr/>
          <p:nvPr/>
        </p:nvSpPr>
        <p:spPr>
          <a:xfrm>
            <a:off x="9189720" y="58521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9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SAR</a:t>
            </a:r>
            <a:endParaRPr lang="en-US" sz="1100" dirty="0"/>
          </a:p>
        </p:txBody>
      </p:sp>
      <p:sp>
        <p:nvSpPr>
          <p:cNvPr id="69" name="Text 58"/>
          <p:cNvSpPr/>
          <p:nvPr/>
        </p:nvSpPr>
        <p:spPr>
          <a:xfrm>
            <a:off x="45720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9A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Giftly</a:t>
            </a:r>
            <a:endParaRPr lang="en-US" sz="1100" dirty="0"/>
          </a:p>
        </p:txBody>
      </p:sp>
      <p:sp>
        <p:nvSpPr>
          <p:cNvPr id="70" name="Text 59"/>
          <p:cNvSpPr/>
          <p:nvPr/>
        </p:nvSpPr>
        <p:spPr>
          <a:xfrm>
            <a:off x="11548872" y="64373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A1B3D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E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 •  2 OF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0408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&amp; Save Your Favourites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up to three gifts side by side, then keep the best ones on a shortlist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532120" cy="4434840"/>
          </a:xfrm>
          <a:prstGeom prst="roundRect">
            <a:avLst>
              <a:gd name="adj" fmla="val 2474"/>
            </a:avLst>
          </a:prstGeom>
          <a:solidFill>
            <a:srgbClr val="231A2E"/>
          </a:solidFill>
          <a:ln/>
        </p:spPr>
      </p:sp>
      <p:pic>
        <p:nvPicPr>
          <p:cNvPr id="7" name="Image 0" descr="icons/nav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385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9568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your favourites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gifts selected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" y="274320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2B2038"/>
          </a:solidFill>
          <a:ln w="12700">
            <a:solidFill>
              <a:srgbClr val="E8609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852928"/>
            <a:ext cx="2112264" cy="777240"/>
          </a:xfrm>
          <a:prstGeom prst="roundRect">
            <a:avLst>
              <a:gd name="adj" fmla="val 5882"/>
            </a:avLst>
          </a:prstGeom>
          <a:solidFill>
            <a:srgbClr val="3A2F48"/>
          </a:solidFill>
          <a:ln/>
        </p:spPr>
      </p:sp>
      <p:pic>
        <p:nvPicPr>
          <p:cNvPr id="12" name="Image 1" descr="icons/flow_gi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516" y="3063240"/>
            <a:ext cx="292608" cy="2926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32688" y="3685032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1B1424"/>
          </a:solidFill>
          <a:ln/>
        </p:spPr>
      </p:sp>
      <p:sp>
        <p:nvSpPr>
          <p:cNvPr id="14" name="Text 10"/>
          <p:cNvSpPr/>
          <p:nvPr/>
        </p:nvSpPr>
        <p:spPr>
          <a:xfrm>
            <a:off x="932688" y="368503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#1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932688" y="39502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LD-1000 Low-Top Sneakers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932688" y="423367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9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  260 SAR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291840" y="274320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2B2038"/>
          </a:solidFill>
          <a:ln/>
        </p:spPr>
      </p:sp>
      <p:sp>
        <p:nvSpPr>
          <p:cNvPr id="18" name="Shape 14"/>
          <p:cNvSpPr/>
          <p:nvPr/>
        </p:nvSpPr>
        <p:spPr>
          <a:xfrm>
            <a:off x="3401568" y="2852928"/>
            <a:ext cx="2112264" cy="777240"/>
          </a:xfrm>
          <a:prstGeom prst="roundRect">
            <a:avLst>
              <a:gd name="adj" fmla="val 5882"/>
            </a:avLst>
          </a:prstGeom>
          <a:solidFill>
            <a:srgbClr val="3A2F48"/>
          </a:solidFill>
          <a:ln/>
        </p:spPr>
      </p:sp>
      <p:pic>
        <p:nvPicPr>
          <p:cNvPr id="19" name="Image 2" descr="icons/flow_gi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396" y="3063240"/>
            <a:ext cx="292608" cy="29260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401568" y="3685032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1B1424"/>
          </a:solidFill>
          <a:ln/>
        </p:spPr>
      </p:sp>
      <p:sp>
        <p:nvSpPr>
          <p:cNvPr id="21" name="Text 16"/>
          <p:cNvSpPr/>
          <p:nvPr/>
        </p:nvSpPr>
        <p:spPr>
          <a:xfrm>
            <a:off x="3401568" y="368503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#2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3401568" y="39502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 Low Sneakers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3401568" y="423367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9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  300 SAR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82296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At-a-glance comparison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5029200"/>
          <a:ext cx="498348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188720"/>
                <a:gridCol w="1188720"/>
              </a:tblGrid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A79AC0"/>
                          </a:solidFill>
                        </a:rPr>
                        <a:t>GIFT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4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A79AC0"/>
                          </a:solidFill>
                        </a:rPr>
                        <a:t>PRICE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4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A79AC0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42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1FA"/>
                          </a:solidFill>
                        </a:rPr>
                        <a:t>LD-1000 Sneakers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1FA"/>
                          </a:solidFill>
                        </a:rPr>
                        <a:t>260 SAR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1FA"/>
                          </a:solidFill>
                        </a:rPr>
                        <a:t>Shoes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2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F1FA"/>
                          </a:solidFill>
                        </a:rPr>
                        <a:t>Dunk Low Sneakers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1FA"/>
                          </a:solidFill>
                        </a:rPr>
                        <a:t>300 SAR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1FA"/>
                          </a:solidFill>
                        </a:rPr>
                        <a:t>Shoes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038"/>
                    </a:solidFill>
                  </a:tcPr>
                </a:tc>
              </a:tr>
            </a:tbl>
          </a:graphicData>
        </a:graphic>
      </p:graphicFrame>
      <p:sp>
        <p:nvSpPr>
          <p:cNvPr id="26" name="Shape 20"/>
          <p:cNvSpPr/>
          <p:nvPr/>
        </p:nvSpPr>
        <p:spPr>
          <a:xfrm>
            <a:off x="6263640" y="173736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231A2E"/>
          </a:solidFill>
          <a:ln/>
        </p:spPr>
      </p:sp>
      <p:pic>
        <p:nvPicPr>
          <p:cNvPr id="27" name="Image 3" descr="icons/nav_saved_p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938528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49440" y="19568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saved shortlist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6537960" y="23317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promising ideas together while you decide on the perfect gift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537960" y="2743200"/>
            <a:ext cx="1536192" cy="2148840"/>
          </a:xfrm>
          <a:prstGeom prst="roundRect">
            <a:avLst>
              <a:gd name="adj" fmla="val 4762"/>
            </a:avLst>
          </a:prstGeom>
          <a:solidFill>
            <a:srgbClr val="2B2038"/>
          </a:solidFill>
          <a:ln/>
        </p:spPr>
      </p:sp>
      <p:sp>
        <p:nvSpPr>
          <p:cNvPr id="31" name="Shape 24"/>
          <p:cNvSpPr/>
          <p:nvPr/>
        </p:nvSpPr>
        <p:spPr>
          <a:xfrm>
            <a:off x="6629400" y="2834640"/>
            <a:ext cx="1353312" cy="868680"/>
          </a:xfrm>
          <a:prstGeom prst="roundRect">
            <a:avLst>
              <a:gd name="adj" fmla="val 5263"/>
            </a:avLst>
          </a:prstGeom>
          <a:solidFill>
            <a:srgbClr val="3A2F48"/>
          </a:solidFill>
          <a:ln/>
        </p:spPr>
      </p:sp>
      <p:pic>
        <p:nvPicPr>
          <p:cNvPr id="32" name="Image 4" descr="icons/flow_gif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3108960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29400" y="379476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Mentha Spicata Candle</a:t>
            </a:r>
            <a:endParaRPr lang="en-US" sz="850" dirty="0"/>
          </a:p>
        </p:txBody>
      </p:sp>
      <p:sp>
        <p:nvSpPr>
          <p:cNvPr id="34" name="Text 26"/>
          <p:cNvSpPr/>
          <p:nvPr/>
        </p:nvSpPr>
        <p:spPr>
          <a:xfrm>
            <a:off x="6629400" y="4279392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Carrière Frères</a:t>
            </a:r>
            <a:endParaRPr lang="en-US" sz="750" dirty="0"/>
          </a:p>
        </p:txBody>
      </p:sp>
      <p:sp>
        <p:nvSpPr>
          <p:cNvPr id="35" name="Text 27"/>
          <p:cNvSpPr/>
          <p:nvPr/>
        </p:nvSpPr>
        <p:spPr>
          <a:xfrm>
            <a:off x="6629400" y="4480560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9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SAR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6629400" y="4681728"/>
            <a:ext cx="1353312" cy="182880"/>
          </a:xfrm>
          <a:prstGeom prst="roundRect">
            <a:avLst>
              <a:gd name="adj" fmla="val 50000"/>
            </a:avLst>
          </a:prstGeom>
          <a:solidFill>
            <a:srgbClr val="1B1424"/>
          </a:solidFill>
          <a:ln/>
        </p:spPr>
      </p:sp>
      <p:sp>
        <p:nvSpPr>
          <p:cNvPr id="37" name="Text 29"/>
          <p:cNvSpPr/>
          <p:nvPr/>
        </p:nvSpPr>
        <p:spPr>
          <a:xfrm>
            <a:off x="6629400" y="4681728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6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Saved</a:t>
            </a:r>
            <a:endParaRPr lang="en-US" sz="650" dirty="0"/>
          </a:p>
        </p:txBody>
      </p:sp>
      <p:sp>
        <p:nvSpPr>
          <p:cNvPr id="38" name="Shape 30"/>
          <p:cNvSpPr/>
          <p:nvPr/>
        </p:nvSpPr>
        <p:spPr>
          <a:xfrm>
            <a:off x="8183880" y="2743200"/>
            <a:ext cx="1536192" cy="2148840"/>
          </a:xfrm>
          <a:prstGeom prst="roundRect">
            <a:avLst>
              <a:gd name="adj" fmla="val 4762"/>
            </a:avLst>
          </a:prstGeom>
          <a:solidFill>
            <a:srgbClr val="2B2038"/>
          </a:solidFill>
          <a:ln/>
        </p:spPr>
      </p:sp>
      <p:sp>
        <p:nvSpPr>
          <p:cNvPr id="39" name="Shape 31"/>
          <p:cNvSpPr/>
          <p:nvPr/>
        </p:nvSpPr>
        <p:spPr>
          <a:xfrm>
            <a:off x="8275320" y="2834640"/>
            <a:ext cx="1353312" cy="868680"/>
          </a:xfrm>
          <a:prstGeom prst="roundRect">
            <a:avLst>
              <a:gd name="adj" fmla="val 5263"/>
            </a:avLst>
          </a:prstGeom>
          <a:solidFill>
            <a:srgbClr val="3A2F48"/>
          </a:solidFill>
          <a:ln/>
        </p:spPr>
      </p:sp>
      <p:pic>
        <p:nvPicPr>
          <p:cNvPr id="40" name="Image 5" descr="icons/flow_gif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5672" y="3108960"/>
            <a:ext cx="292608" cy="29260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275320" y="379476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Bar Beta Fuel Chew</a:t>
            </a:r>
            <a:endParaRPr lang="en-US" sz="850" dirty="0"/>
          </a:p>
        </p:txBody>
      </p:sp>
      <p:sp>
        <p:nvSpPr>
          <p:cNvPr id="42" name="Text 33"/>
          <p:cNvSpPr/>
          <p:nvPr/>
        </p:nvSpPr>
        <p:spPr>
          <a:xfrm>
            <a:off x="8275320" y="4279392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Decathlon</a:t>
            </a:r>
            <a:endParaRPr lang="en-US" sz="750" dirty="0"/>
          </a:p>
        </p:txBody>
      </p:sp>
      <p:sp>
        <p:nvSpPr>
          <p:cNvPr id="43" name="Text 34"/>
          <p:cNvSpPr/>
          <p:nvPr/>
        </p:nvSpPr>
        <p:spPr>
          <a:xfrm>
            <a:off x="8275320" y="4480560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9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SAR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8275320" y="4681728"/>
            <a:ext cx="1353312" cy="182880"/>
          </a:xfrm>
          <a:prstGeom prst="roundRect">
            <a:avLst>
              <a:gd name="adj" fmla="val 50000"/>
            </a:avLst>
          </a:prstGeom>
          <a:solidFill>
            <a:srgbClr val="1B1424"/>
          </a:solidFill>
          <a:ln/>
        </p:spPr>
      </p:sp>
      <p:sp>
        <p:nvSpPr>
          <p:cNvPr id="45" name="Text 36"/>
          <p:cNvSpPr/>
          <p:nvPr/>
        </p:nvSpPr>
        <p:spPr>
          <a:xfrm>
            <a:off x="8275320" y="4681728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6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Saved</a:t>
            </a:r>
            <a:endParaRPr lang="en-US" sz="650" dirty="0"/>
          </a:p>
        </p:txBody>
      </p:sp>
      <p:sp>
        <p:nvSpPr>
          <p:cNvPr id="46" name="Shape 37"/>
          <p:cNvSpPr/>
          <p:nvPr/>
        </p:nvSpPr>
        <p:spPr>
          <a:xfrm>
            <a:off x="9829800" y="2743200"/>
            <a:ext cx="1536192" cy="2148840"/>
          </a:xfrm>
          <a:prstGeom prst="roundRect">
            <a:avLst>
              <a:gd name="adj" fmla="val 4762"/>
            </a:avLst>
          </a:prstGeom>
          <a:solidFill>
            <a:srgbClr val="2B2038"/>
          </a:solidFill>
          <a:ln/>
        </p:spPr>
      </p:sp>
      <p:sp>
        <p:nvSpPr>
          <p:cNvPr id="47" name="Shape 38"/>
          <p:cNvSpPr/>
          <p:nvPr/>
        </p:nvSpPr>
        <p:spPr>
          <a:xfrm>
            <a:off x="9921240" y="2834640"/>
            <a:ext cx="1353312" cy="868680"/>
          </a:xfrm>
          <a:prstGeom prst="roundRect">
            <a:avLst>
              <a:gd name="adj" fmla="val 5263"/>
            </a:avLst>
          </a:prstGeom>
          <a:solidFill>
            <a:srgbClr val="3A2F48"/>
          </a:solidFill>
          <a:ln/>
        </p:spPr>
      </p:sp>
      <p:pic>
        <p:nvPicPr>
          <p:cNvPr id="48" name="Image 6" descr="icons/flow_gif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1592" y="3108960"/>
            <a:ext cx="292608" cy="292608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9921240" y="379476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5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Shaper T-Shirt</a:t>
            </a:r>
            <a:endParaRPr lang="en-US" sz="850" dirty="0"/>
          </a:p>
        </p:txBody>
      </p:sp>
      <p:sp>
        <p:nvSpPr>
          <p:cNvPr id="50" name="Text 40"/>
          <p:cNvSpPr/>
          <p:nvPr/>
        </p:nvSpPr>
        <p:spPr>
          <a:xfrm>
            <a:off x="9921240" y="4279392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Amsterdam</a:t>
            </a:r>
            <a:endParaRPr lang="en-US" sz="750" dirty="0"/>
          </a:p>
        </p:txBody>
      </p:sp>
      <p:sp>
        <p:nvSpPr>
          <p:cNvPr id="51" name="Text 41"/>
          <p:cNvSpPr/>
          <p:nvPr/>
        </p:nvSpPr>
        <p:spPr>
          <a:xfrm>
            <a:off x="9921240" y="4480560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9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SAR</a:t>
            </a:r>
            <a:endParaRPr lang="en-US" sz="950" dirty="0"/>
          </a:p>
        </p:txBody>
      </p:sp>
      <p:sp>
        <p:nvSpPr>
          <p:cNvPr id="52" name="Shape 42"/>
          <p:cNvSpPr/>
          <p:nvPr/>
        </p:nvSpPr>
        <p:spPr>
          <a:xfrm>
            <a:off x="9921240" y="4681728"/>
            <a:ext cx="1353312" cy="182880"/>
          </a:xfrm>
          <a:prstGeom prst="roundRect">
            <a:avLst>
              <a:gd name="adj" fmla="val 50000"/>
            </a:avLst>
          </a:prstGeom>
          <a:solidFill>
            <a:srgbClr val="1B1424"/>
          </a:solidFill>
          <a:ln/>
        </p:spPr>
      </p:sp>
      <p:sp>
        <p:nvSpPr>
          <p:cNvPr id="53" name="Text 43"/>
          <p:cNvSpPr/>
          <p:nvPr/>
        </p:nvSpPr>
        <p:spPr>
          <a:xfrm>
            <a:off x="9921240" y="4681728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6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Saved</a:t>
            </a:r>
            <a:endParaRPr lang="en-US" sz="650" dirty="0"/>
          </a:p>
        </p:txBody>
      </p:sp>
      <p:sp>
        <p:nvSpPr>
          <p:cNvPr id="54" name="Text 44"/>
          <p:cNvSpPr/>
          <p:nvPr/>
        </p:nvSpPr>
        <p:spPr>
          <a:xfrm>
            <a:off x="6537960" y="50292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nav tabs cover the full journey: Gift Finder (questionnaire), Explore (free browsing), Compare (side-by-side), Saved (shortlist), and Model Insights (behind-the-scenes metrics).</a:t>
            </a:r>
            <a:endParaRPr lang="en-US" sz="950" dirty="0"/>
          </a:p>
        </p:txBody>
      </p:sp>
      <p:sp>
        <p:nvSpPr>
          <p:cNvPr id="55" name="Text 45"/>
          <p:cNvSpPr/>
          <p:nvPr/>
        </p:nvSpPr>
        <p:spPr>
          <a:xfrm>
            <a:off x="45720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9A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Giftly</a:t>
            </a:r>
            <a:endParaRPr lang="en-US" sz="1100" dirty="0"/>
          </a:p>
        </p:txBody>
      </p:sp>
      <p:sp>
        <p:nvSpPr>
          <p:cNvPr id="56" name="Text 46"/>
          <p:cNvSpPr/>
          <p:nvPr/>
        </p:nvSpPr>
        <p:spPr>
          <a:xfrm>
            <a:off x="11548872" y="64373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029200" cy="5029200"/>
          </a:xfrm>
          <a:prstGeom prst="ellipse">
            <a:avLst/>
          </a:prstGeom>
          <a:solidFill>
            <a:srgbClr val="2A1B3D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572000" cy="4572000"/>
          </a:xfrm>
          <a:prstGeom prst="ellipse">
            <a:avLst/>
          </a:prstGeom>
          <a:solidFill>
            <a:srgbClr val="2A1B3D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502920"/>
            <a:ext cx="12188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Q&amp;A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Outcomes</a:t>
            </a:r>
            <a:endParaRPr lang="en-US" sz="1600" dirty="0"/>
          </a:p>
        </p:txBody>
      </p:sp>
      <p:pic>
        <p:nvPicPr>
          <p:cNvPr id="6" name="Image 0" descr="icons/result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90195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architecture justified with evidence, not assertion — DBSCAN and Hierarchical were run and shown failing on this data.</a:t>
            </a:r>
            <a:endParaRPr lang="en-US" sz="1150" dirty="0"/>
          </a:p>
        </p:txBody>
      </p:sp>
      <p:pic>
        <p:nvPicPr>
          <p:cNvPr id="8" name="Image 1" descr="icons/result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974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67919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constraint violations across 600 synthetic queries — tested against the true budget, not the filter expression — the filter-then-rank design does exactly the job it was chosen for.</a:t>
            </a:r>
            <a:endParaRPr lang="en-US" sz="1150" dirty="0"/>
          </a:p>
        </p:txBody>
      </p:sp>
      <p:pic>
        <p:nvPicPr>
          <p:cNvPr id="10" name="Image 2" descr="icons/result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747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45643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ms median latency — full-catalog cosine ranking is comfortably viable inside a synchronous API.</a:t>
            </a:r>
            <a:endParaRPr lang="en-US" sz="1150" dirty="0"/>
          </a:p>
        </p:txBody>
      </p:sp>
      <p:pic>
        <p:nvPicPr>
          <p:cNvPr id="12" name="Image 3" descr="icons/result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5196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423367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 reported and fixed: coverage lifted from 4% to 61.29% via exposure damping; four methodological defects corrected including a tautological constraint test and circular evaluation.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6492240" y="1508760"/>
            <a:ext cx="4846320" cy="3429000"/>
          </a:xfrm>
          <a:prstGeom prst="roundRect">
            <a:avLst>
              <a:gd name="adj" fmla="val 3200"/>
            </a:avLst>
          </a:prstGeom>
          <a:solidFill>
            <a:srgbClr val="231A2E"/>
          </a:solidFill>
          <a:ln/>
        </p:spPr>
      </p:sp>
      <p:pic>
        <p:nvPicPr>
          <p:cNvPr id="15" name="Image 4" descr="icons/future_rock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173736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60920" y="1810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9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6766560" y="2322576"/>
            <a:ext cx="91440" cy="91440"/>
          </a:xfrm>
          <a:prstGeom prst="ellipse">
            <a:avLst/>
          </a:prstGeom>
          <a:solidFill>
            <a:srgbClr val="E8609E"/>
          </a:solidFill>
          <a:ln/>
        </p:spPr>
      </p:sp>
      <p:sp>
        <p:nvSpPr>
          <p:cNvPr id="18" name="Text 11"/>
          <p:cNvSpPr/>
          <p:nvPr/>
        </p:nvSpPr>
        <p:spPr>
          <a:xfrm>
            <a:off x="6949440" y="221284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filtering: blend cosine retrieval with a learning-to-rank model once click/purchase logs exist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6766560" y="2980944"/>
            <a:ext cx="91440" cy="91440"/>
          </a:xfrm>
          <a:prstGeom prst="ellipse">
            <a:avLst/>
          </a:prstGeom>
          <a:solidFill>
            <a:srgbClr val="E8609E"/>
          </a:solidFill>
          <a:ln/>
        </p:spPr>
      </p:sp>
      <p:sp>
        <p:nvSpPr>
          <p:cNvPr id="20" name="Text 13"/>
          <p:cNvSpPr/>
          <p:nvPr/>
        </p:nvSpPr>
        <p:spPr>
          <a:xfrm>
            <a:off x="6949440" y="2871216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damping achieved 61.29% coverage at 3,000 queries — 92% of the theoretical ceiling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6766560" y="3639312"/>
            <a:ext cx="91440" cy="91440"/>
          </a:xfrm>
          <a:prstGeom prst="ellipse">
            <a:avLst/>
          </a:prstGeom>
          <a:solidFill>
            <a:srgbClr val="E8609E"/>
          </a:solidFill>
          <a:ln/>
        </p:spPr>
      </p:sp>
      <p:sp>
        <p:nvSpPr>
          <p:cNvPr id="22" name="Text 15"/>
          <p:cNvSpPr/>
          <p:nvPr/>
        </p:nvSpPr>
        <p:spPr>
          <a:xfrm>
            <a:off x="6949440" y="3529584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Dual-space design: clustering on 64-d (silhouette 0.575), ranking on 160-d (44,798 distinct vectors, 99.5%)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766560" y="4297680"/>
            <a:ext cx="91440" cy="91440"/>
          </a:xfrm>
          <a:prstGeom prst="ellipse">
            <a:avLst/>
          </a:prstGeom>
          <a:solidFill>
            <a:srgbClr val="E8609E"/>
          </a:solidFill>
          <a:ln/>
        </p:spPr>
      </p:sp>
      <p:sp>
        <p:nvSpPr>
          <p:cNvPr id="24" name="Text 17"/>
          <p:cNvSpPr/>
          <p:nvPr/>
        </p:nvSpPr>
        <p:spPr>
          <a:xfrm>
            <a:off x="6949440" y="4187952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evaluation (age x gender, category x budget) to catch thin-coverage queries EDA flagged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394960" y="5257800"/>
            <a:ext cx="1371600" cy="0"/>
          </a:xfrm>
          <a:prstGeom prst="line">
            <a:avLst/>
          </a:prstGeom>
          <a:noFill/>
          <a:ln w="12700">
            <a:solidFill>
              <a:srgbClr val="3A2E4A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0" y="544068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7" name="Text 20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Riyadh   •   Mohammad   •   Rana   •   Sumayah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1548872" y="64373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2026-08-01T20:09:36Z</dcterms:created>
  <dcterms:modified xsi:type="dcterms:W3CDTF">2026-08-01T20:09:36Z</dcterms:modified>
</cp:coreProperties>
</file>